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handoutMasterIdLst>
    <p:handoutMasterId r:id="rId13"/>
  </p:handout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11" d="100"/>
          <a:sy n="111" d="100"/>
        </p:scale>
        <p:origin x="907"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9E2A904-7E6C-60A8-4CEB-33770CA8E5F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146E73DE-3EB4-D2AA-584A-23B10CBEDDD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C554B4-0474-4956-86F7-13A6DE5AC447}" type="datetimeFigureOut">
              <a:rPr lang="en-IN" smtClean="0"/>
              <a:t>12-09-2026</a:t>
            </a:fld>
            <a:endParaRPr lang="en-IN"/>
          </a:p>
        </p:txBody>
      </p:sp>
      <p:sp>
        <p:nvSpPr>
          <p:cNvPr id="4" name="Footer Placeholder 3">
            <a:extLst>
              <a:ext uri="{FF2B5EF4-FFF2-40B4-BE49-F238E27FC236}">
                <a16:creationId xmlns:a16="http://schemas.microsoft.com/office/drawing/2014/main" id="{84EAFAB2-CA3D-A63D-AB6A-34D3738044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SCA,DSU</a:t>
            </a:r>
          </a:p>
        </p:txBody>
      </p:sp>
      <p:sp>
        <p:nvSpPr>
          <p:cNvPr id="5" name="Slide Number Placeholder 4">
            <a:extLst>
              <a:ext uri="{FF2B5EF4-FFF2-40B4-BE49-F238E27FC236}">
                <a16:creationId xmlns:a16="http://schemas.microsoft.com/office/drawing/2014/main" id="{946CA1E9-126B-54DF-1EDB-BA815D90100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BE1CF8F-94C8-472F-BA01-D3F2DE321FB6}" type="slidenum">
              <a:rPr lang="en-IN" smtClean="0"/>
              <a:t>‹#›</a:t>
            </a:fld>
            <a:endParaRPr lang="en-IN"/>
          </a:p>
        </p:txBody>
      </p:sp>
    </p:spTree>
    <p:extLst>
      <p:ext uri="{BB962C8B-B14F-4D97-AF65-F5344CB8AC3E}">
        <p14:creationId xmlns:p14="http://schemas.microsoft.com/office/powerpoint/2010/main" val="117524596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56CA75-1F33-4A1C-BE87-C89EFBD83C0A}" type="datetimeFigureOut">
              <a:rPr lang="en-IN" smtClean="0"/>
              <a:t>12-09-2026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SCA,DSU</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0DBB4E-54FD-464C-A1CE-71B719AA1643}" type="slidenum">
              <a:rPr lang="en-IN" smtClean="0"/>
              <a:t>‹#›</a:t>
            </a:fld>
            <a:endParaRPr lang="en-IN"/>
          </a:p>
        </p:txBody>
      </p:sp>
    </p:spTree>
    <p:extLst>
      <p:ext uri="{BB962C8B-B14F-4D97-AF65-F5344CB8AC3E}">
        <p14:creationId xmlns:p14="http://schemas.microsoft.com/office/powerpoint/2010/main" val="504247215"/>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5009F-09E4-2296-B49E-2CC7D6868EDE}"/>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&lt;Title of the Project&gt;</a:t>
            </a:r>
            <a:endParaRPr lang="en-IN" dirty="0"/>
          </a:p>
        </p:txBody>
      </p:sp>
      <p:sp>
        <p:nvSpPr>
          <p:cNvPr id="3" name="Subtitle 2">
            <a:extLst>
              <a:ext uri="{FF2B5EF4-FFF2-40B4-BE49-F238E27FC236}">
                <a16:creationId xmlns:a16="http://schemas.microsoft.com/office/drawing/2014/main" id="{EB931FEA-3A9B-FD43-C31B-EC4B4C44B92B}"/>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&lt;student name and USN&gt;</a:t>
            </a:r>
            <a:endParaRPr lang="en-IN" dirty="0"/>
          </a:p>
        </p:txBody>
      </p:sp>
      <p:sp>
        <p:nvSpPr>
          <p:cNvPr id="4" name="Date Placeholder 3">
            <a:extLst>
              <a:ext uri="{FF2B5EF4-FFF2-40B4-BE49-F238E27FC236}">
                <a16:creationId xmlns:a16="http://schemas.microsoft.com/office/drawing/2014/main" id="{8D0475EE-CCD5-D0F7-E3F6-403AE940E05A}"/>
              </a:ext>
            </a:extLst>
          </p:cNvPr>
          <p:cNvSpPr>
            <a:spLocks noGrp="1"/>
          </p:cNvSpPr>
          <p:nvPr>
            <p:ph type="dt" sz="half" idx="10"/>
          </p:nvPr>
        </p:nvSpPr>
        <p:spPr/>
        <p:txBody>
          <a:bodyPr/>
          <a:lstStyle/>
          <a:p>
            <a:fld id="{7D8FCE8C-2D7D-493B-8EDA-1A40E6CB1FEB}" type="datetime1">
              <a:rPr lang="en-IN" smtClean="0"/>
              <a:t>12-09-2026</a:t>
            </a:fld>
            <a:endParaRPr lang="en-IN"/>
          </a:p>
        </p:txBody>
      </p:sp>
      <p:sp>
        <p:nvSpPr>
          <p:cNvPr id="5" name="Footer Placeholder 4">
            <a:extLst>
              <a:ext uri="{FF2B5EF4-FFF2-40B4-BE49-F238E27FC236}">
                <a16:creationId xmlns:a16="http://schemas.microsoft.com/office/drawing/2014/main" id="{8F5A3F46-7F66-A95C-2CEB-6CF8FBACF554}"/>
              </a:ext>
            </a:extLst>
          </p:cNvPr>
          <p:cNvSpPr>
            <a:spLocks noGrp="1"/>
          </p:cNvSpPr>
          <p:nvPr>
            <p:ph type="ftr" sz="quarter" idx="11"/>
          </p:nvPr>
        </p:nvSpPr>
        <p:spPr/>
        <p:txBody>
          <a:bodyPr/>
          <a:lstStyle/>
          <a:p>
            <a:r>
              <a:rPr lang="en-IN"/>
              <a:t>SCA,DSU</a:t>
            </a:r>
          </a:p>
        </p:txBody>
      </p:sp>
      <p:sp>
        <p:nvSpPr>
          <p:cNvPr id="6" name="Slide Number Placeholder 5">
            <a:extLst>
              <a:ext uri="{FF2B5EF4-FFF2-40B4-BE49-F238E27FC236}">
                <a16:creationId xmlns:a16="http://schemas.microsoft.com/office/drawing/2014/main" id="{4E60C302-8FBB-1722-5F2A-3F88A30F323F}"/>
              </a:ext>
            </a:extLst>
          </p:cNvPr>
          <p:cNvSpPr>
            <a:spLocks noGrp="1"/>
          </p:cNvSpPr>
          <p:nvPr>
            <p:ph type="sldNum" sz="quarter" idx="12"/>
          </p:nvPr>
        </p:nvSpPr>
        <p:spPr/>
        <p:txBody>
          <a:bodyPr/>
          <a:lstStyle/>
          <a:p>
            <a:fld id="{928E01A7-08A5-4732-95A7-378050096F40}" type="slidenum">
              <a:rPr lang="en-IN" smtClean="0"/>
              <a:t>‹#›</a:t>
            </a:fld>
            <a:endParaRPr lang="en-IN"/>
          </a:p>
        </p:txBody>
      </p:sp>
      <p:pic>
        <p:nvPicPr>
          <p:cNvPr id="7" name="Picture 6">
            <a:extLst>
              <a:ext uri="{FF2B5EF4-FFF2-40B4-BE49-F238E27FC236}">
                <a16:creationId xmlns:a16="http://schemas.microsoft.com/office/drawing/2014/main" id="{3859F1E3-CBEF-ACFD-AD1F-EFCF5DBD9732}"/>
              </a:ext>
            </a:extLst>
          </p:cNvPr>
          <p:cNvPicPr>
            <a:picLocks noChangeAspect="1"/>
          </p:cNvPicPr>
          <p:nvPr userDrawn="1"/>
        </p:nvPicPr>
        <p:blipFill>
          <a:blip r:embed="rId2"/>
          <a:stretch>
            <a:fillRect/>
          </a:stretch>
        </p:blipFill>
        <p:spPr>
          <a:xfrm>
            <a:off x="80248" y="128042"/>
            <a:ext cx="2499577" cy="890093"/>
          </a:xfrm>
          <a:prstGeom prst="rect">
            <a:avLst/>
          </a:prstGeom>
        </p:spPr>
      </p:pic>
      <p:pic>
        <p:nvPicPr>
          <p:cNvPr id="8" name="Picture 7">
            <a:extLst>
              <a:ext uri="{FF2B5EF4-FFF2-40B4-BE49-F238E27FC236}">
                <a16:creationId xmlns:a16="http://schemas.microsoft.com/office/drawing/2014/main" id="{DB0BC48F-0A24-E0F6-8B10-FFCB66781DCD}"/>
              </a:ext>
            </a:extLst>
          </p:cNvPr>
          <p:cNvPicPr>
            <a:picLocks noChangeAspect="1"/>
          </p:cNvPicPr>
          <p:nvPr userDrawn="1"/>
        </p:nvPicPr>
        <p:blipFill>
          <a:blip r:embed="rId3"/>
          <a:stretch>
            <a:fillRect/>
          </a:stretch>
        </p:blipFill>
        <p:spPr>
          <a:xfrm>
            <a:off x="9153012" y="23813"/>
            <a:ext cx="3029975" cy="762066"/>
          </a:xfrm>
          <a:prstGeom prst="rect">
            <a:avLst/>
          </a:prstGeom>
        </p:spPr>
      </p:pic>
    </p:spTree>
    <p:extLst>
      <p:ext uri="{BB962C8B-B14F-4D97-AF65-F5344CB8AC3E}">
        <p14:creationId xmlns:p14="http://schemas.microsoft.com/office/powerpoint/2010/main" val="1959220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94783-3D58-FF58-57B2-36987F5CE3ED}"/>
              </a:ext>
            </a:extLst>
          </p:cNvPr>
          <p:cNvSpPr>
            <a:spLocks noGrp="1"/>
          </p:cNvSpPr>
          <p:nvPr>
            <p:ph type="title"/>
          </p:nvPr>
        </p:nvSpPr>
        <p:spPr>
          <a:xfrm>
            <a:off x="838200" y="1018135"/>
            <a:ext cx="10515600" cy="672553"/>
          </a:xfr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1F401A-4EE5-21DE-973C-22328022A9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EFE0CD-BB3F-2FD6-86E3-D7A20AB2253D}"/>
              </a:ext>
            </a:extLst>
          </p:cNvPr>
          <p:cNvSpPr>
            <a:spLocks noGrp="1"/>
          </p:cNvSpPr>
          <p:nvPr>
            <p:ph type="dt" sz="half" idx="10"/>
          </p:nvPr>
        </p:nvSpPr>
        <p:spPr/>
        <p:txBody>
          <a:bodyPr/>
          <a:lstStyle/>
          <a:p>
            <a:fld id="{EFC177C9-BF8A-43E8-A99E-25CC9571266A}" type="datetime1">
              <a:rPr lang="en-IN" smtClean="0"/>
              <a:t>12-09-2026</a:t>
            </a:fld>
            <a:endParaRPr lang="en-IN"/>
          </a:p>
        </p:txBody>
      </p:sp>
      <p:sp>
        <p:nvSpPr>
          <p:cNvPr id="5" name="Footer Placeholder 4">
            <a:extLst>
              <a:ext uri="{FF2B5EF4-FFF2-40B4-BE49-F238E27FC236}">
                <a16:creationId xmlns:a16="http://schemas.microsoft.com/office/drawing/2014/main" id="{B618AEA2-6225-FEB6-4801-79EE547272B8}"/>
              </a:ext>
            </a:extLst>
          </p:cNvPr>
          <p:cNvSpPr>
            <a:spLocks noGrp="1"/>
          </p:cNvSpPr>
          <p:nvPr>
            <p:ph type="ftr" sz="quarter" idx="11"/>
          </p:nvPr>
        </p:nvSpPr>
        <p:spPr/>
        <p:txBody>
          <a:bodyPr/>
          <a:lstStyle/>
          <a:p>
            <a:r>
              <a:rPr lang="en-IN"/>
              <a:t>SCA,DSU</a:t>
            </a:r>
          </a:p>
        </p:txBody>
      </p:sp>
      <p:sp>
        <p:nvSpPr>
          <p:cNvPr id="6" name="Slide Number Placeholder 5">
            <a:extLst>
              <a:ext uri="{FF2B5EF4-FFF2-40B4-BE49-F238E27FC236}">
                <a16:creationId xmlns:a16="http://schemas.microsoft.com/office/drawing/2014/main" id="{205D368A-962F-7BAE-F17E-F7F4875020BF}"/>
              </a:ext>
            </a:extLst>
          </p:cNvPr>
          <p:cNvSpPr>
            <a:spLocks noGrp="1"/>
          </p:cNvSpPr>
          <p:nvPr>
            <p:ph type="sldNum" sz="quarter" idx="12"/>
          </p:nvPr>
        </p:nvSpPr>
        <p:spPr/>
        <p:txBody>
          <a:bodyPr/>
          <a:lstStyle/>
          <a:p>
            <a:fld id="{928E01A7-08A5-4732-95A7-378050096F40}" type="slidenum">
              <a:rPr lang="en-IN" smtClean="0"/>
              <a:t>‹#›</a:t>
            </a:fld>
            <a:endParaRPr lang="en-IN"/>
          </a:p>
        </p:txBody>
      </p:sp>
      <p:pic>
        <p:nvPicPr>
          <p:cNvPr id="7" name="Picture 6">
            <a:extLst>
              <a:ext uri="{FF2B5EF4-FFF2-40B4-BE49-F238E27FC236}">
                <a16:creationId xmlns:a16="http://schemas.microsoft.com/office/drawing/2014/main" id="{3499CDB9-41EE-68CE-9262-149DE660B164}"/>
              </a:ext>
            </a:extLst>
          </p:cNvPr>
          <p:cNvPicPr>
            <a:picLocks noChangeAspect="1"/>
          </p:cNvPicPr>
          <p:nvPr userDrawn="1"/>
        </p:nvPicPr>
        <p:blipFill>
          <a:blip r:embed="rId2"/>
          <a:stretch>
            <a:fillRect/>
          </a:stretch>
        </p:blipFill>
        <p:spPr>
          <a:xfrm>
            <a:off x="80248" y="128042"/>
            <a:ext cx="2499577" cy="890093"/>
          </a:xfrm>
          <a:prstGeom prst="rect">
            <a:avLst/>
          </a:prstGeom>
        </p:spPr>
      </p:pic>
      <p:pic>
        <p:nvPicPr>
          <p:cNvPr id="8" name="Picture 7">
            <a:extLst>
              <a:ext uri="{FF2B5EF4-FFF2-40B4-BE49-F238E27FC236}">
                <a16:creationId xmlns:a16="http://schemas.microsoft.com/office/drawing/2014/main" id="{ACA6992A-213A-4EC7-1A33-70A35FD17049}"/>
              </a:ext>
            </a:extLst>
          </p:cNvPr>
          <p:cNvPicPr>
            <a:picLocks noChangeAspect="1"/>
          </p:cNvPicPr>
          <p:nvPr userDrawn="1"/>
        </p:nvPicPr>
        <p:blipFill>
          <a:blip r:embed="rId3"/>
          <a:stretch>
            <a:fillRect/>
          </a:stretch>
        </p:blipFill>
        <p:spPr>
          <a:xfrm>
            <a:off x="9153012" y="23813"/>
            <a:ext cx="3029975" cy="762066"/>
          </a:xfrm>
          <a:prstGeom prst="rect">
            <a:avLst/>
          </a:prstGeom>
        </p:spPr>
      </p:pic>
    </p:spTree>
    <p:extLst>
      <p:ext uri="{BB962C8B-B14F-4D97-AF65-F5344CB8AC3E}">
        <p14:creationId xmlns:p14="http://schemas.microsoft.com/office/powerpoint/2010/main" val="4203461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BFEF3-A10A-AE1C-378C-E4B6A204C5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3C9DEC-3B77-BA02-E7D6-37C74F5AFE8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53BC6D-05CF-8C10-C159-8D842A82D76B}"/>
              </a:ext>
            </a:extLst>
          </p:cNvPr>
          <p:cNvSpPr>
            <a:spLocks noGrp="1"/>
          </p:cNvSpPr>
          <p:nvPr>
            <p:ph type="dt" sz="half" idx="10"/>
          </p:nvPr>
        </p:nvSpPr>
        <p:spPr/>
        <p:txBody>
          <a:bodyPr/>
          <a:lstStyle/>
          <a:p>
            <a:fld id="{0C1499BF-5BD3-4FB6-82D8-8D2FA76AAD3A}" type="datetime1">
              <a:rPr lang="en-IN" smtClean="0"/>
              <a:t>12-09-2026</a:t>
            </a:fld>
            <a:endParaRPr lang="en-IN"/>
          </a:p>
        </p:txBody>
      </p:sp>
      <p:sp>
        <p:nvSpPr>
          <p:cNvPr id="5" name="Footer Placeholder 4">
            <a:extLst>
              <a:ext uri="{FF2B5EF4-FFF2-40B4-BE49-F238E27FC236}">
                <a16:creationId xmlns:a16="http://schemas.microsoft.com/office/drawing/2014/main" id="{94DE19B8-04CA-6172-6246-3BF0DC4B7924}"/>
              </a:ext>
            </a:extLst>
          </p:cNvPr>
          <p:cNvSpPr>
            <a:spLocks noGrp="1"/>
          </p:cNvSpPr>
          <p:nvPr>
            <p:ph type="ftr" sz="quarter" idx="11"/>
          </p:nvPr>
        </p:nvSpPr>
        <p:spPr/>
        <p:txBody>
          <a:bodyPr/>
          <a:lstStyle/>
          <a:p>
            <a:r>
              <a:rPr lang="en-IN"/>
              <a:t>SCA,DSU</a:t>
            </a:r>
          </a:p>
        </p:txBody>
      </p:sp>
      <p:sp>
        <p:nvSpPr>
          <p:cNvPr id="6" name="Slide Number Placeholder 5">
            <a:extLst>
              <a:ext uri="{FF2B5EF4-FFF2-40B4-BE49-F238E27FC236}">
                <a16:creationId xmlns:a16="http://schemas.microsoft.com/office/drawing/2014/main" id="{FC4E7245-960F-A4C7-1516-32E77DD7346C}"/>
              </a:ext>
            </a:extLst>
          </p:cNvPr>
          <p:cNvSpPr>
            <a:spLocks noGrp="1"/>
          </p:cNvSpPr>
          <p:nvPr>
            <p:ph type="sldNum" sz="quarter" idx="12"/>
          </p:nvPr>
        </p:nvSpPr>
        <p:spPr/>
        <p:txBody>
          <a:bodyPr/>
          <a:lstStyle/>
          <a:p>
            <a:fld id="{928E01A7-08A5-4732-95A7-378050096F40}" type="slidenum">
              <a:rPr lang="en-IN" smtClean="0"/>
              <a:t>‹#›</a:t>
            </a:fld>
            <a:endParaRPr lang="en-IN"/>
          </a:p>
        </p:txBody>
      </p:sp>
      <p:pic>
        <p:nvPicPr>
          <p:cNvPr id="7" name="Picture 6">
            <a:extLst>
              <a:ext uri="{FF2B5EF4-FFF2-40B4-BE49-F238E27FC236}">
                <a16:creationId xmlns:a16="http://schemas.microsoft.com/office/drawing/2014/main" id="{BD2AE606-E187-AC75-6FF0-4AA73D8607AA}"/>
              </a:ext>
            </a:extLst>
          </p:cNvPr>
          <p:cNvPicPr>
            <a:picLocks noChangeAspect="1"/>
          </p:cNvPicPr>
          <p:nvPr userDrawn="1"/>
        </p:nvPicPr>
        <p:blipFill>
          <a:blip r:embed="rId2"/>
          <a:stretch>
            <a:fillRect/>
          </a:stretch>
        </p:blipFill>
        <p:spPr>
          <a:xfrm>
            <a:off x="80248" y="128042"/>
            <a:ext cx="2499577" cy="890093"/>
          </a:xfrm>
          <a:prstGeom prst="rect">
            <a:avLst/>
          </a:prstGeom>
        </p:spPr>
      </p:pic>
      <p:pic>
        <p:nvPicPr>
          <p:cNvPr id="8" name="Picture 7">
            <a:extLst>
              <a:ext uri="{FF2B5EF4-FFF2-40B4-BE49-F238E27FC236}">
                <a16:creationId xmlns:a16="http://schemas.microsoft.com/office/drawing/2014/main" id="{778A8A85-0753-32A7-80A1-69D367F15564}"/>
              </a:ext>
            </a:extLst>
          </p:cNvPr>
          <p:cNvPicPr>
            <a:picLocks noChangeAspect="1"/>
          </p:cNvPicPr>
          <p:nvPr userDrawn="1"/>
        </p:nvPicPr>
        <p:blipFill>
          <a:blip r:embed="rId3"/>
          <a:stretch>
            <a:fillRect/>
          </a:stretch>
        </p:blipFill>
        <p:spPr>
          <a:xfrm>
            <a:off x="9153012" y="23813"/>
            <a:ext cx="3029975" cy="762066"/>
          </a:xfrm>
          <a:prstGeom prst="rect">
            <a:avLst/>
          </a:prstGeom>
        </p:spPr>
      </p:pic>
    </p:spTree>
    <p:extLst>
      <p:ext uri="{BB962C8B-B14F-4D97-AF65-F5344CB8AC3E}">
        <p14:creationId xmlns:p14="http://schemas.microsoft.com/office/powerpoint/2010/main" val="2590875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8FD31-FDE8-6DBB-7405-1636F682DF4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0C56F17-F98E-7166-03B0-050B7C9C41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580F0A8-4727-E810-1B74-177E1592C0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A51BB5A-CB0D-55CD-9498-10A9632BC8E7}"/>
              </a:ext>
            </a:extLst>
          </p:cNvPr>
          <p:cNvSpPr>
            <a:spLocks noGrp="1"/>
          </p:cNvSpPr>
          <p:nvPr>
            <p:ph type="dt" sz="half" idx="10"/>
          </p:nvPr>
        </p:nvSpPr>
        <p:spPr/>
        <p:txBody>
          <a:bodyPr/>
          <a:lstStyle/>
          <a:p>
            <a:fld id="{91E2B566-2330-4F27-A841-1F424A7CF1EB}" type="datetime1">
              <a:rPr lang="en-IN" smtClean="0"/>
              <a:t>12-09-2026</a:t>
            </a:fld>
            <a:endParaRPr lang="en-IN"/>
          </a:p>
        </p:txBody>
      </p:sp>
      <p:sp>
        <p:nvSpPr>
          <p:cNvPr id="6" name="Footer Placeholder 5">
            <a:extLst>
              <a:ext uri="{FF2B5EF4-FFF2-40B4-BE49-F238E27FC236}">
                <a16:creationId xmlns:a16="http://schemas.microsoft.com/office/drawing/2014/main" id="{E2ABB1A0-C6E7-1343-D49C-86A3F1EE15A7}"/>
              </a:ext>
            </a:extLst>
          </p:cNvPr>
          <p:cNvSpPr>
            <a:spLocks noGrp="1"/>
          </p:cNvSpPr>
          <p:nvPr>
            <p:ph type="ftr" sz="quarter" idx="11"/>
          </p:nvPr>
        </p:nvSpPr>
        <p:spPr/>
        <p:txBody>
          <a:bodyPr/>
          <a:lstStyle/>
          <a:p>
            <a:r>
              <a:rPr lang="en-IN"/>
              <a:t>SCA,DSU</a:t>
            </a:r>
          </a:p>
        </p:txBody>
      </p:sp>
      <p:sp>
        <p:nvSpPr>
          <p:cNvPr id="7" name="Slide Number Placeholder 6">
            <a:extLst>
              <a:ext uri="{FF2B5EF4-FFF2-40B4-BE49-F238E27FC236}">
                <a16:creationId xmlns:a16="http://schemas.microsoft.com/office/drawing/2014/main" id="{94DC61E5-DDB8-B54A-5DF0-2202EC561314}"/>
              </a:ext>
            </a:extLst>
          </p:cNvPr>
          <p:cNvSpPr>
            <a:spLocks noGrp="1"/>
          </p:cNvSpPr>
          <p:nvPr>
            <p:ph type="sldNum" sz="quarter" idx="12"/>
          </p:nvPr>
        </p:nvSpPr>
        <p:spPr/>
        <p:txBody>
          <a:bodyPr/>
          <a:lstStyle/>
          <a:p>
            <a:fld id="{928E01A7-08A5-4732-95A7-378050096F40}" type="slidenum">
              <a:rPr lang="en-IN" smtClean="0"/>
              <a:t>‹#›</a:t>
            </a:fld>
            <a:endParaRPr lang="en-IN"/>
          </a:p>
        </p:txBody>
      </p:sp>
    </p:spTree>
    <p:extLst>
      <p:ext uri="{BB962C8B-B14F-4D97-AF65-F5344CB8AC3E}">
        <p14:creationId xmlns:p14="http://schemas.microsoft.com/office/powerpoint/2010/main" val="145608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30692-C9AB-9D12-0AFB-D9770CA2F81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7ADF26-31BF-083D-9220-447103075B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9B1A85-A41C-16A0-6CF5-1BEB08317A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ECC28D3-C0CA-1AB9-049B-DCEC96A178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AA0CE8-2CF7-AD5D-8A9C-F8EB288201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307836E-DFA0-21E7-5820-D36ABC014A89}"/>
              </a:ext>
            </a:extLst>
          </p:cNvPr>
          <p:cNvSpPr>
            <a:spLocks noGrp="1"/>
          </p:cNvSpPr>
          <p:nvPr>
            <p:ph type="dt" sz="half" idx="10"/>
          </p:nvPr>
        </p:nvSpPr>
        <p:spPr/>
        <p:txBody>
          <a:bodyPr/>
          <a:lstStyle/>
          <a:p>
            <a:fld id="{0ABBC488-A42D-4FC3-8115-DBCC730D27D2}" type="datetime1">
              <a:rPr lang="en-IN" smtClean="0"/>
              <a:t>12-09-2026</a:t>
            </a:fld>
            <a:endParaRPr lang="en-IN"/>
          </a:p>
        </p:txBody>
      </p:sp>
      <p:sp>
        <p:nvSpPr>
          <p:cNvPr id="8" name="Footer Placeholder 7">
            <a:extLst>
              <a:ext uri="{FF2B5EF4-FFF2-40B4-BE49-F238E27FC236}">
                <a16:creationId xmlns:a16="http://schemas.microsoft.com/office/drawing/2014/main" id="{993B2341-F185-B3D2-D97C-8B083B35817A}"/>
              </a:ext>
            </a:extLst>
          </p:cNvPr>
          <p:cNvSpPr>
            <a:spLocks noGrp="1"/>
          </p:cNvSpPr>
          <p:nvPr>
            <p:ph type="ftr" sz="quarter" idx="11"/>
          </p:nvPr>
        </p:nvSpPr>
        <p:spPr/>
        <p:txBody>
          <a:bodyPr/>
          <a:lstStyle/>
          <a:p>
            <a:r>
              <a:rPr lang="en-IN"/>
              <a:t>SCA,DSU</a:t>
            </a:r>
          </a:p>
        </p:txBody>
      </p:sp>
      <p:sp>
        <p:nvSpPr>
          <p:cNvPr id="9" name="Slide Number Placeholder 8">
            <a:extLst>
              <a:ext uri="{FF2B5EF4-FFF2-40B4-BE49-F238E27FC236}">
                <a16:creationId xmlns:a16="http://schemas.microsoft.com/office/drawing/2014/main" id="{F8A55253-3C4A-5E94-4A5A-B3D2F054905F}"/>
              </a:ext>
            </a:extLst>
          </p:cNvPr>
          <p:cNvSpPr>
            <a:spLocks noGrp="1"/>
          </p:cNvSpPr>
          <p:nvPr>
            <p:ph type="sldNum" sz="quarter" idx="12"/>
          </p:nvPr>
        </p:nvSpPr>
        <p:spPr/>
        <p:txBody>
          <a:bodyPr/>
          <a:lstStyle/>
          <a:p>
            <a:fld id="{928E01A7-08A5-4732-95A7-378050096F40}" type="slidenum">
              <a:rPr lang="en-IN" smtClean="0"/>
              <a:t>‹#›</a:t>
            </a:fld>
            <a:endParaRPr lang="en-IN"/>
          </a:p>
        </p:txBody>
      </p:sp>
    </p:spTree>
    <p:extLst>
      <p:ext uri="{BB962C8B-B14F-4D97-AF65-F5344CB8AC3E}">
        <p14:creationId xmlns:p14="http://schemas.microsoft.com/office/powerpoint/2010/main" val="4050734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56861-A35F-B720-8A67-410E4180515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1268787-A1C7-1BF8-CCBF-7EC164738C92}"/>
              </a:ext>
            </a:extLst>
          </p:cNvPr>
          <p:cNvSpPr>
            <a:spLocks noGrp="1"/>
          </p:cNvSpPr>
          <p:nvPr>
            <p:ph type="dt" sz="half" idx="10"/>
          </p:nvPr>
        </p:nvSpPr>
        <p:spPr/>
        <p:txBody>
          <a:bodyPr/>
          <a:lstStyle/>
          <a:p>
            <a:fld id="{5B4EC1C0-6344-4EAE-94F4-380077B0E55B}" type="datetime1">
              <a:rPr lang="en-IN" smtClean="0"/>
              <a:t>12-09-2026</a:t>
            </a:fld>
            <a:endParaRPr lang="en-IN"/>
          </a:p>
        </p:txBody>
      </p:sp>
      <p:sp>
        <p:nvSpPr>
          <p:cNvPr id="4" name="Footer Placeholder 3">
            <a:extLst>
              <a:ext uri="{FF2B5EF4-FFF2-40B4-BE49-F238E27FC236}">
                <a16:creationId xmlns:a16="http://schemas.microsoft.com/office/drawing/2014/main" id="{41B84E51-CC80-0F96-C0E8-04445B570845}"/>
              </a:ext>
            </a:extLst>
          </p:cNvPr>
          <p:cNvSpPr>
            <a:spLocks noGrp="1"/>
          </p:cNvSpPr>
          <p:nvPr>
            <p:ph type="ftr" sz="quarter" idx="11"/>
          </p:nvPr>
        </p:nvSpPr>
        <p:spPr/>
        <p:txBody>
          <a:bodyPr/>
          <a:lstStyle/>
          <a:p>
            <a:r>
              <a:rPr lang="en-IN"/>
              <a:t>SCA,DSU</a:t>
            </a:r>
          </a:p>
        </p:txBody>
      </p:sp>
      <p:sp>
        <p:nvSpPr>
          <p:cNvPr id="5" name="Slide Number Placeholder 4">
            <a:extLst>
              <a:ext uri="{FF2B5EF4-FFF2-40B4-BE49-F238E27FC236}">
                <a16:creationId xmlns:a16="http://schemas.microsoft.com/office/drawing/2014/main" id="{4D09A2AD-2DE3-8FF0-5F27-2628532F1951}"/>
              </a:ext>
            </a:extLst>
          </p:cNvPr>
          <p:cNvSpPr>
            <a:spLocks noGrp="1"/>
          </p:cNvSpPr>
          <p:nvPr>
            <p:ph type="sldNum" sz="quarter" idx="12"/>
          </p:nvPr>
        </p:nvSpPr>
        <p:spPr/>
        <p:txBody>
          <a:bodyPr/>
          <a:lstStyle/>
          <a:p>
            <a:fld id="{928E01A7-08A5-4732-95A7-378050096F40}" type="slidenum">
              <a:rPr lang="en-IN" smtClean="0"/>
              <a:t>‹#›</a:t>
            </a:fld>
            <a:endParaRPr lang="en-IN"/>
          </a:p>
        </p:txBody>
      </p:sp>
    </p:spTree>
    <p:extLst>
      <p:ext uri="{BB962C8B-B14F-4D97-AF65-F5344CB8AC3E}">
        <p14:creationId xmlns:p14="http://schemas.microsoft.com/office/powerpoint/2010/main" val="2488581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F620BA-11EA-B127-D562-D853F1198F0B}"/>
              </a:ext>
            </a:extLst>
          </p:cNvPr>
          <p:cNvSpPr>
            <a:spLocks noGrp="1"/>
          </p:cNvSpPr>
          <p:nvPr>
            <p:ph type="dt" sz="half" idx="10"/>
          </p:nvPr>
        </p:nvSpPr>
        <p:spPr/>
        <p:txBody>
          <a:bodyPr/>
          <a:lstStyle/>
          <a:p>
            <a:fld id="{BA75D99C-0999-460D-ADEA-10E30B8BCB85}" type="datetime1">
              <a:rPr lang="en-IN" smtClean="0"/>
              <a:t>12-09-2026</a:t>
            </a:fld>
            <a:endParaRPr lang="en-IN"/>
          </a:p>
        </p:txBody>
      </p:sp>
      <p:sp>
        <p:nvSpPr>
          <p:cNvPr id="3" name="Footer Placeholder 2">
            <a:extLst>
              <a:ext uri="{FF2B5EF4-FFF2-40B4-BE49-F238E27FC236}">
                <a16:creationId xmlns:a16="http://schemas.microsoft.com/office/drawing/2014/main" id="{55237204-D6F4-4E2E-B708-13B8058F5245}"/>
              </a:ext>
            </a:extLst>
          </p:cNvPr>
          <p:cNvSpPr>
            <a:spLocks noGrp="1"/>
          </p:cNvSpPr>
          <p:nvPr>
            <p:ph type="ftr" sz="quarter" idx="11"/>
          </p:nvPr>
        </p:nvSpPr>
        <p:spPr/>
        <p:txBody>
          <a:bodyPr/>
          <a:lstStyle/>
          <a:p>
            <a:r>
              <a:rPr lang="en-IN"/>
              <a:t>SCA,DSU</a:t>
            </a:r>
          </a:p>
        </p:txBody>
      </p:sp>
      <p:sp>
        <p:nvSpPr>
          <p:cNvPr id="4" name="Slide Number Placeholder 3">
            <a:extLst>
              <a:ext uri="{FF2B5EF4-FFF2-40B4-BE49-F238E27FC236}">
                <a16:creationId xmlns:a16="http://schemas.microsoft.com/office/drawing/2014/main" id="{B60249E5-1378-560D-A197-D94B0B776A27}"/>
              </a:ext>
            </a:extLst>
          </p:cNvPr>
          <p:cNvSpPr>
            <a:spLocks noGrp="1"/>
          </p:cNvSpPr>
          <p:nvPr>
            <p:ph type="sldNum" sz="quarter" idx="12"/>
          </p:nvPr>
        </p:nvSpPr>
        <p:spPr/>
        <p:txBody>
          <a:bodyPr/>
          <a:lstStyle/>
          <a:p>
            <a:fld id="{928E01A7-08A5-4732-95A7-378050096F40}" type="slidenum">
              <a:rPr lang="en-IN" smtClean="0"/>
              <a:t>‹#›</a:t>
            </a:fld>
            <a:endParaRPr lang="en-IN"/>
          </a:p>
        </p:txBody>
      </p:sp>
      <p:pic>
        <p:nvPicPr>
          <p:cNvPr id="5" name="Picture 4">
            <a:extLst>
              <a:ext uri="{FF2B5EF4-FFF2-40B4-BE49-F238E27FC236}">
                <a16:creationId xmlns:a16="http://schemas.microsoft.com/office/drawing/2014/main" id="{BE364C3E-7E5F-63D9-5394-6B222CFFE115}"/>
              </a:ext>
            </a:extLst>
          </p:cNvPr>
          <p:cNvPicPr>
            <a:picLocks noChangeAspect="1"/>
          </p:cNvPicPr>
          <p:nvPr userDrawn="1"/>
        </p:nvPicPr>
        <p:blipFill>
          <a:blip r:embed="rId2"/>
          <a:stretch>
            <a:fillRect/>
          </a:stretch>
        </p:blipFill>
        <p:spPr>
          <a:xfrm>
            <a:off x="80248" y="128042"/>
            <a:ext cx="2499577" cy="890093"/>
          </a:xfrm>
          <a:prstGeom prst="rect">
            <a:avLst/>
          </a:prstGeom>
        </p:spPr>
      </p:pic>
      <p:pic>
        <p:nvPicPr>
          <p:cNvPr id="6" name="Picture 5">
            <a:extLst>
              <a:ext uri="{FF2B5EF4-FFF2-40B4-BE49-F238E27FC236}">
                <a16:creationId xmlns:a16="http://schemas.microsoft.com/office/drawing/2014/main" id="{FB017148-4CBB-3C22-6600-10930E188125}"/>
              </a:ext>
            </a:extLst>
          </p:cNvPr>
          <p:cNvPicPr>
            <a:picLocks noChangeAspect="1"/>
          </p:cNvPicPr>
          <p:nvPr userDrawn="1"/>
        </p:nvPicPr>
        <p:blipFill>
          <a:blip r:embed="rId3"/>
          <a:stretch>
            <a:fillRect/>
          </a:stretch>
        </p:blipFill>
        <p:spPr>
          <a:xfrm>
            <a:off x="9153012" y="23813"/>
            <a:ext cx="3029975" cy="762066"/>
          </a:xfrm>
          <a:prstGeom prst="rect">
            <a:avLst/>
          </a:prstGeom>
        </p:spPr>
      </p:pic>
    </p:spTree>
    <p:extLst>
      <p:ext uri="{BB962C8B-B14F-4D97-AF65-F5344CB8AC3E}">
        <p14:creationId xmlns:p14="http://schemas.microsoft.com/office/powerpoint/2010/main" val="1677256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3E4C5-F211-B2EE-F705-872E01A39C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FD11355-6251-0370-0194-68FA15F852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637AD69-B473-6959-B642-87060108B5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175D8D-6D39-EBA8-C63C-141DF94A05A6}"/>
              </a:ext>
            </a:extLst>
          </p:cNvPr>
          <p:cNvSpPr>
            <a:spLocks noGrp="1"/>
          </p:cNvSpPr>
          <p:nvPr>
            <p:ph type="dt" sz="half" idx="10"/>
          </p:nvPr>
        </p:nvSpPr>
        <p:spPr/>
        <p:txBody>
          <a:bodyPr/>
          <a:lstStyle/>
          <a:p>
            <a:fld id="{4B6F9882-43BD-41A4-8C61-676F734A7CB5}" type="datetime1">
              <a:rPr lang="en-IN" smtClean="0"/>
              <a:t>12-09-2026</a:t>
            </a:fld>
            <a:endParaRPr lang="en-IN"/>
          </a:p>
        </p:txBody>
      </p:sp>
      <p:sp>
        <p:nvSpPr>
          <p:cNvPr id="6" name="Footer Placeholder 5">
            <a:extLst>
              <a:ext uri="{FF2B5EF4-FFF2-40B4-BE49-F238E27FC236}">
                <a16:creationId xmlns:a16="http://schemas.microsoft.com/office/drawing/2014/main" id="{B40C6DD1-C8FC-ACCF-69D1-48A0464FA1D5}"/>
              </a:ext>
            </a:extLst>
          </p:cNvPr>
          <p:cNvSpPr>
            <a:spLocks noGrp="1"/>
          </p:cNvSpPr>
          <p:nvPr>
            <p:ph type="ftr" sz="quarter" idx="11"/>
          </p:nvPr>
        </p:nvSpPr>
        <p:spPr/>
        <p:txBody>
          <a:bodyPr/>
          <a:lstStyle/>
          <a:p>
            <a:r>
              <a:rPr lang="en-IN"/>
              <a:t>SCA,DSU</a:t>
            </a:r>
          </a:p>
        </p:txBody>
      </p:sp>
      <p:sp>
        <p:nvSpPr>
          <p:cNvPr id="7" name="Slide Number Placeholder 6">
            <a:extLst>
              <a:ext uri="{FF2B5EF4-FFF2-40B4-BE49-F238E27FC236}">
                <a16:creationId xmlns:a16="http://schemas.microsoft.com/office/drawing/2014/main" id="{7DDA7FF4-A4D7-B71F-570F-711D36C3BFC2}"/>
              </a:ext>
            </a:extLst>
          </p:cNvPr>
          <p:cNvSpPr>
            <a:spLocks noGrp="1"/>
          </p:cNvSpPr>
          <p:nvPr>
            <p:ph type="sldNum" sz="quarter" idx="12"/>
          </p:nvPr>
        </p:nvSpPr>
        <p:spPr/>
        <p:txBody>
          <a:bodyPr/>
          <a:lstStyle/>
          <a:p>
            <a:fld id="{928E01A7-08A5-4732-95A7-378050096F40}" type="slidenum">
              <a:rPr lang="en-IN" smtClean="0"/>
              <a:t>‹#›</a:t>
            </a:fld>
            <a:endParaRPr lang="en-IN"/>
          </a:p>
        </p:txBody>
      </p:sp>
    </p:spTree>
    <p:extLst>
      <p:ext uri="{BB962C8B-B14F-4D97-AF65-F5344CB8AC3E}">
        <p14:creationId xmlns:p14="http://schemas.microsoft.com/office/powerpoint/2010/main" val="2895124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A42E0-FB61-A867-CFBB-D47A36A9BC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097BA5B-EBCB-A0B7-563B-EF98394409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E024C9B-AE4A-9467-79A7-63A8CE53DB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1DECDD-4A56-A545-C602-5BAD435BC79D}"/>
              </a:ext>
            </a:extLst>
          </p:cNvPr>
          <p:cNvSpPr>
            <a:spLocks noGrp="1"/>
          </p:cNvSpPr>
          <p:nvPr>
            <p:ph type="dt" sz="half" idx="10"/>
          </p:nvPr>
        </p:nvSpPr>
        <p:spPr/>
        <p:txBody>
          <a:bodyPr/>
          <a:lstStyle/>
          <a:p>
            <a:fld id="{5D7F8361-758D-4182-8CF0-1250084B6CB8}" type="datetime1">
              <a:rPr lang="en-IN" smtClean="0"/>
              <a:t>12-09-2026</a:t>
            </a:fld>
            <a:endParaRPr lang="en-IN"/>
          </a:p>
        </p:txBody>
      </p:sp>
      <p:sp>
        <p:nvSpPr>
          <p:cNvPr id="6" name="Footer Placeholder 5">
            <a:extLst>
              <a:ext uri="{FF2B5EF4-FFF2-40B4-BE49-F238E27FC236}">
                <a16:creationId xmlns:a16="http://schemas.microsoft.com/office/drawing/2014/main" id="{92A5FAA7-C049-F24F-2FAB-3C1B8DAA60D2}"/>
              </a:ext>
            </a:extLst>
          </p:cNvPr>
          <p:cNvSpPr>
            <a:spLocks noGrp="1"/>
          </p:cNvSpPr>
          <p:nvPr>
            <p:ph type="ftr" sz="quarter" idx="11"/>
          </p:nvPr>
        </p:nvSpPr>
        <p:spPr/>
        <p:txBody>
          <a:bodyPr/>
          <a:lstStyle/>
          <a:p>
            <a:r>
              <a:rPr lang="en-IN"/>
              <a:t>SCA,DSU</a:t>
            </a:r>
          </a:p>
        </p:txBody>
      </p:sp>
      <p:sp>
        <p:nvSpPr>
          <p:cNvPr id="7" name="Slide Number Placeholder 6">
            <a:extLst>
              <a:ext uri="{FF2B5EF4-FFF2-40B4-BE49-F238E27FC236}">
                <a16:creationId xmlns:a16="http://schemas.microsoft.com/office/drawing/2014/main" id="{1BA2C26E-2687-94D1-86E8-EB2FFFE91EAC}"/>
              </a:ext>
            </a:extLst>
          </p:cNvPr>
          <p:cNvSpPr>
            <a:spLocks noGrp="1"/>
          </p:cNvSpPr>
          <p:nvPr>
            <p:ph type="sldNum" sz="quarter" idx="12"/>
          </p:nvPr>
        </p:nvSpPr>
        <p:spPr/>
        <p:txBody>
          <a:bodyPr/>
          <a:lstStyle/>
          <a:p>
            <a:fld id="{928E01A7-08A5-4732-95A7-378050096F40}" type="slidenum">
              <a:rPr lang="en-IN" smtClean="0"/>
              <a:t>‹#›</a:t>
            </a:fld>
            <a:endParaRPr lang="en-IN"/>
          </a:p>
        </p:txBody>
      </p:sp>
    </p:spTree>
    <p:extLst>
      <p:ext uri="{BB962C8B-B14F-4D97-AF65-F5344CB8AC3E}">
        <p14:creationId xmlns:p14="http://schemas.microsoft.com/office/powerpoint/2010/main" val="4133356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99E4D-5D79-BB71-7C99-BCC661FBA4D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C5C022-1CF2-48E2-9EB9-8FB7BAD76C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82681B-5424-C34C-DBE9-E4E0DA1F07A9}"/>
              </a:ext>
            </a:extLst>
          </p:cNvPr>
          <p:cNvSpPr>
            <a:spLocks noGrp="1"/>
          </p:cNvSpPr>
          <p:nvPr>
            <p:ph type="dt" sz="half" idx="10"/>
          </p:nvPr>
        </p:nvSpPr>
        <p:spPr/>
        <p:txBody>
          <a:bodyPr/>
          <a:lstStyle/>
          <a:p>
            <a:fld id="{D85BBB0A-4EB8-4A09-B82F-C85B66AC8479}" type="datetime1">
              <a:rPr lang="en-IN" smtClean="0"/>
              <a:t>12-09-2026</a:t>
            </a:fld>
            <a:endParaRPr lang="en-IN"/>
          </a:p>
        </p:txBody>
      </p:sp>
      <p:sp>
        <p:nvSpPr>
          <p:cNvPr id="5" name="Footer Placeholder 4">
            <a:extLst>
              <a:ext uri="{FF2B5EF4-FFF2-40B4-BE49-F238E27FC236}">
                <a16:creationId xmlns:a16="http://schemas.microsoft.com/office/drawing/2014/main" id="{5B8A409F-DD99-6A88-4442-0A409B577CAF}"/>
              </a:ext>
            </a:extLst>
          </p:cNvPr>
          <p:cNvSpPr>
            <a:spLocks noGrp="1"/>
          </p:cNvSpPr>
          <p:nvPr>
            <p:ph type="ftr" sz="quarter" idx="11"/>
          </p:nvPr>
        </p:nvSpPr>
        <p:spPr/>
        <p:txBody>
          <a:bodyPr/>
          <a:lstStyle/>
          <a:p>
            <a:r>
              <a:rPr lang="en-IN"/>
              <a:t>SCA,DSU</a:t>
            </a:r>
          </a:p>
        </p:txBody>
      </p:sp>
      <p:sp>
        <p:nvSpPr>
          <p:cNvPr id="6" name="Slide Number Placeholder 5">
            <a:extLst>
              <a:ext uri="{FF2B5EF4-FFF2-40B4-BE49-F238E27FC236}">
                <a16:creationId xmlns:a16="http://schemas.microsoft.com/office/drawing/2014/main" id="{4E4949C0-FA23-5B43-082B-EB76123D8E75}"/>
              </a:ext>
            </a:extLst>
          </p:cNvPr>
          <p:cNvSpPr>
            <a:spLocks noGrp="1"/>
          </p:cNvSpPr>
          <p:nvPr>
            <p:ph type="sldNum" sz="quarter" idx="12"/>
          </p:nvPr>
        </p:nvSpPr>
        <p:spPr/>
        <p:txBody>
          <a:bodyPr/>
          <a:lstStyle/>
          <a:p>
            <a:fld id="{928E01A7-08A5-4732-95A7-378050096F40}" type="slidenum">
              <a:rPr lang="en-IN" smtClean="0"/>
              <a:t>‹#›</a:t>
            </a:fld>
            <a:endParaRPr lang="en-IN"/>
          </a:p>
        </p:txBody>
      </p:sp>
    </p:spTree>
    <p:extLst>
      <p:ext uri="{BB962C8B-B14F-4D97-AF65-F5344CB8AC3E}">
        <p14:creationId xmlns:p14="http://schemas.microsoft.com/office/powerpoint/2010/main" val="3132526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5FD1C3-AB26-41C7-79B6-03D01A96FA5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05193F-57E7-C0CF-445C-17A709443D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BE3EA8-BC99-E467-B70A-0842DC35B5F0}"/>
              </a:ext>
            </a:extLst>
          </p:cNvPr>
          <p:cNvSpPr>
            <a:spLocks noGrp="1"/>
          </p:cNvSpPr>
          <p:nvPr>
            <p:ph type="dt" sz="half" idx="10"/>
          </p:nvPr>
        </p:nvSpPr>
        <p:spPr/>
        <p:txBody>
          <a:bodyPr/>
          <a:lstStyle/>
          <a:p>
            <a:fld id="{C4ED4065-6342-44A0-A176-DC0CAC968B6A}" type="datetime1">
              <a:rPr lang="en-IN" smtClean="0"/>
              <a:t>12-09-2026</a:t>
            </a:fld>
            <a:endParaRPr lang="en-IN"/>
          </a:p>
        </p:txBody>
      </p:sp>
      <p:sp>
        <p:nvSpPr>
          <p:cNvPr id="5" name="Footer Placeholder 4">
            <a:extLst>
              <a:ext uri="{FF2B5EF4-FFF2-40B4-BE49-F238E27FC236}">
                <a16:creationId xmlns:a16="http://schemas.microsoft.com/office/drawing/2014/main" id="{238650E4-4587-CA52-85DD-731CC774E573}"/>
              </a:ext>
            </a:extLst>
          </p:cNvPr>
          <p:cNvSpPr>
            <a:spLocks noGrp="1"/>
          </p:cNvSpPr>
          <p:nvPr>
            <p:ph type="ftr" sz="quarter" idx="11"/>
          </p:nvPr>
        </p:nvSpPr>
        <p:spPr/>
        <p:txBody>
          <a:bodyPr/>
          <a:lstStyle/>
          <a:p>
            <a:r>
              <a:rPr lang="en-IN"/>
              <a:t>SCA,DSU</a:t>
            </a:r>
          </a:p>
        </p:txBody>
      </p:sp>
      <p:sp>
        <p:nvSpPr>
          <p:cNvPr id="6" name="Slide Number Placeholder 5">
            <a:extLst>
              <a:ext uri="{FF2B5EF4-FFF2-40B4-BE49-F238E27FC236}">
                <a16:creationId xmlns:a16="http://schemas.microsoft.com/office/drawing/2014/main" id="{9921FE46-F864-0901-2CC6-E5016D0FA371}"/>
              </a:ext>
            </a:extLst>
          </p:cNvPr>
          <p:cNvSpPr>
            <a:spLocks noGrp="1"/>
          </p:cNvSpPr>
          <p:nvPr>
            <p:ph type="sldNum" sz="quarter" idx="12"/>
          </p:nvPr>
        </p:nvSpPr>
        <p:spPr/>
        <p:txBody>
          <a:bodyPr/>
          <a:lstStyle/>
          <a:p>
            <a:fld id="{928E01A7-08A5-4732-95A7-378050096F40}" type="slidenum">
              <a:rPr lang="en-IN" smtClean="0"/>
              <a:t>‹#›</a:t>
            </a:fld>
            <a:endParaRPr lang="en-IN"/>
          </a:p>
        </p:txBody>
      </p:sp>
    </p:spTree>
    <p:extLst>
      <p:ext uri="{BB962C8B-B14F-4D97-AF65-F5344CB8AC3E}">
        <p14:creationId xmlns:p14="http://schemas.microsoft.com/office/powerpoint/2010/main" val="1951274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9F8494-4106-9546-ABB6-4142208150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991668-9705-5153-7C67-E33CF953B6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4B898B-D31B-4BD3-E7AA-B5ACF4594E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EB5C34-79AB-454A-9F50-DC82613A32B9}" type="datetime1">
              <a:rPr lang="en-IN" smtClean="0"/>
              <a:t>12-09-2026</a:t>
            </a:fld>
            <a:endParaRPr lang="en-IN"/>
          </a:p>
        </p:txBody>
      </p:sp>
      <p:sp>
        <p:nvSpPr>
          <p:cNvPr id="5" name="Footer Placeholder 4">
            <a:extLst>
              <a:ext uri="{FF2B5EF4-FFF2-40B4-BE49-F238E27FC236}">
                <a16:creationId xmlns:a16="http://schemas.microsoft.com/office/drawing/2014/main" id="{59CBC5CE-4652-C4B5-D0B9-1273588F71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SCA,DSU</a:t>
            </a:r>
          </a:p>
        </p:txBody>
      </p:sp>
      <p:sp>
        <p:nvSpPr>
          <p:cNvPr id="6" name="Slide Number Placeholder 5">
            <a:extLst>
              <a:ext uri="{FF2B5EF4-FFF2-40B4-BE49-F238E27FC236}">
                <a16:creationId xmlns:a16="http://schemas.microsoft.com/office/drawing/2014/main" id="{85624737-87C9-B76F-49A0-412BE673FD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8E01A7-08A5-4732-95A7-378050096F40}" type="slidenum">
              <a:rPr lang="en-IN" smtClean="0"/>
              <a:t>‹#›</a:t>
            </a:fld>
            <a:endParaRPr lang="en-IN"/>
          </a:p>
        </p:txBody>
      </p:sp>
    </p:spTree>
    <p:extLst>
      <p:ext uri="{BB962C8B-B14F-4D97-AF65-F5344CB8AC3E}">
        <p14:creationId xmlns:p14="http://schemas.microsoft.com/office/powerpoint/2010/main" val="30625278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0000" t="30000" r="-30000"/>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4F0E9E3-BD37-0BD9-4760-8DA5DD3224B0}"/>
              </a:ext>
            </a:extLst>
          </p:cNvPr>
          <p:cNvSpPr>
            <a:spLocks noGrp="1"/>
          </p:cNvSpPr>
          <p:nvPr>
            <p:ph type="ctrTitle"/>
          </p:nvPr>
        </p:nvSpPr>
        <p:spPr>
          <a:xfrm>
            <a:off x="0" y="1379698"/>
            <a:ext cx="12192000" cy="511277"/>
          </a:xfrm>
          <a:gradFill>
            <a:gsLst>
              <a:gs pos="25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solidFill>
              <a:schemeClr val="tx1"/>
            </a:solidFill>
          </a:ln>
        </p:spPr>
        <p:txBody>
          <a:bodyPr>
            <a:normAutofit/>
          </a:bodyPr>
          <a:lstStyle/>
          <a:p>
            <a:r>
              <a:rPr lang="en-US" sz="1800" dirty="0">
                <a:latin typeface="Arial"/>
              </a:rPr>
              <a:t>YAANA</a:t>
            </a:r>
            <a:endParaRPr sz="1800" dirty="0">
              <a:latin typeface="Arial"/>
            </a:endParaRPr>
          </a:p>
        </p:txBody>
      </p:sp>
      <p:sp>
        <p:nvSpPr>
          <p:cNvPr id="7" name="Subtitle 6">
            <a:extLst>
              <a:ext uri="{FF2B5EF4-FFF2-40B4-BE49-F238E27FC236}">
                <a16:creationId xmlns:a16="http://schemas.microsoft.com/office/drawing/2014/main" id="{EB1759C7-C3D3-0F6A-8338-085343FA0646}"/>
              </a:ext>
            </a:extLst>
          </p:cNvPr>
          <p:cNvSpPr>
            <a:spLocks noGrp="1"/>
          </p:cNvSpPr>
          <p:nvPr>
            <p:ph type="subTitle" idx="1"/>
          </p:nvPr>
        </p:nvSpPr>
        <p:spPr>
          <a:xfrm>
            <a:off x="1681316" y="5794630"/>
            <a:ext cx="9144000" cy="511277"/>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pPr algn="ctr">
              <a:defRPr sz="1000" b="1">
                <a:latin typeface="Arial"/>
              </a:defRPr>
            </a:pPr>
            <a:r>
              <a:rPr dirty="0"/>
              <a:t>Name: </a:t>
            </a:r>
            <a:r>
              <a:rPr lang="en-US" dirty="0"/>
              <a:t>KRUPA LAXMI SV</a:t>
            </a:r>
            <a:r>
              <a:rPr dirty="0"/>
              <a:t>        USN: </a:t>
            </a:r>
            <a:r>
              <a:rPr lang="en-US" dirty="0"/>
              <a:t>SCA24CA0044</a:t>
            </a:r>
            <a:endParaRPr dirty="0"/>
          </a:p>
        </p:txBody>
      </p:sp>
      <p:sp>
        <p:nvSpPr>
          <p:cNvPr id="8" name="TextBox 7">
            <a:extLst>
              <a:ext uri="{FF2B5EF4-FFF2-40B4-BE49-F238E27FC236}">
                <a16:creationId xmlns:a16="http://schemas.microsoft.com/office/drawing/2014/main" id="{5D7875AE-81CB-002A-9BF0-232B243EB203}"/>
              </a:ext>
            </a:extLst>
          </p:cNvPr>
          <p:cNvSpPr txBox="1"/>
          <p:nvPr/>
        </p:nvSpPr>
        <p:spPr>
          <a:xfrm>
            <a:off x="2989006" y="275094"/>
            <a:ext cx="3106994" cy="830997"/>
          </a:xfrm>
          <a:prstGeom prst="rect">
            <a:avLst/>
          </a:prstGeom>
          <a:solidFill>
            <a:schemeClr val="bg1">
              <a:alpha val="86000"/>
            </a:schemeClr>
          </a:solidFill>
          <a:ln w="9525">
            <a:solidFill>
              <a:schemeClr val="tx1"/>
            </a:solidFill>
          </a:ln>
        </p:spPr>
        <p:txBody>
          <a:bodyPr wrap="square" rtlCol="0">
            <a:spAutoFit/>
          </a:bodyPr>
          <a:lstStyle/>
          <a:p>
            <a:pPr>
              <a:spcAft>
                <a:spcPts val="0"/>
              </a:spcAft>
              <a:defRPr sz="850" b="1">
                <a:latin typeface="Arial"/>
              </a:defRPr>
            </a:pPr>
            <a:r>
              <a:rPr sz="1600" dirty="0"/>
              <a:t>Course Code: 24CA3503</a:t>
            </a:r>
          </a:p>
          <a:p>
            <a:pPr>
              <a:spcAft>
                <a:spcPts val="0"/>
              </a:spcAft>
              <a:defRPr sz="850" b="1">
                <a:latin typeface="Arial"/>
              </a:defRPr>
            </a:pPr>
            <a:r>
              <a:rPr sz="1600" dirty="0"/>
              <a:t>Course Title: Project Stage 1</a:t>
            </a:r>
          </a:p>
          <a:p>
            <a:pPr>
              <a:spcAft>
                <a:spcPts val="0"/>
              </a:spcAft>
              <a:defRPr sz="850" b="1">
                <a:latin typeface="Arial"/>
              </a:defRPr>
            </a:pPr>
            <a:r>
              <a:rPr sz="1600" dirty="0"/>
              <a:t>Program: BCA</a:t>
            </a:r>
          </a:p>
        </p:txBody>
      </p:sp>
      <p:sp>
        <p:nvSpPr>
          <p:cNvPr id="2" name="TextBox 1">
            <a:extLst>
              <a:ext uri="{FF2B5EF4-FFF2-40B4-BE49-F238E27FC236}">
                <a16:creationId xmlns:a16="http://schemas.microsoft.com/office/drawing/2014/main" id="{5383FE1D-FBF0-E297-0FCD-4230BE0AE95E}"/>
              </a:ext>
            </a:extLst>
          </p:cNvPr>
          <p:cNvSpPr txBox="1"/>
          <p:nvPr/>
        </p:nvSpPr>
        <p:spPr>
          <a:xfrm>
            <a:off x="6253316" y="275094"/>
            <a:ext cx="2674374" cy="830997"/>
          </a:xfrm>
          <a:prstGeom prst="rect">
            <a:avLst/>
          </a:prstGeom>
          <a:solidFill>
            <a:schemeClr val="bg1">
              <a:alpha val="86000"/>
            </a:schemeClr>
          </a:solidFill>
          <a:ln w="9525">
            <a:solidFill>
              <a:schemeClr val="tx1"/>
            </a:solidFill>
          </a:ln>
        </p:spPr>
        <p:txBody>
          <a:bodyPr wrap="square" rtlCol="0">
            <a:spAutoFit/>
          </a:bodyPr>
          <a:lstStyle/>
          <a:p>
            <a:pPr>
              <a:spcAft>
                <a:spcPts val="0"/>
              </a:spcAft>
              <a:defRPr sz="850" b="1">
                <a:latin typeface="Arial"/>
              </a:defRPr>
            </a:pPr>
            <a:r>
              <a:rPr sz="1600" dirty="0"/>
              <a:t>Semester:  V</a:t>
            </a:r>
          </a:p>
          <a:p>
            <a:pPr>
              <a:spcAft>
                <a:spcPts val="0"/>
              </a:spcAft>
              <a:defRPr sz="850" b="1">
                <a:latin typeface="Arial"/>
              </a:defRPr>
            </a:pPr>
            <a:endParaRPr sz="1600" dirty="0"/>
          </a:p>
          <a:p>
            <a:pPr>
              <a:spcAft>
                <a:spcPts val="0"/>
              </a:spcAft>
              <a:defRPr sz="850" b="1">
                <a:latin typeface="Arial"/>
              </a:defRPr>
            </a:pPr>
            <a:r>
              <a:rPr sz="1600" dirty="0"/>
              <a:t>Section: ‘A’</a:t>
            </a:r>
          </a:p>
        </p:txBody>
      </p:sp>
    </p:spTree>
    <p:extLst>
      <p:ext uri="{BB962C8B-B14F-4D97-AF65-F5344CB8AC3E}">
        <p14:creationId xmlns:p14="http://schemas.microsoft.com/office/powerpoint/2010/main" val="3521305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4DF88-611C-DD59-C991-24D6784AFF8D}"/>
              </a:ext>
            </a:extLst>
          </p:cNvPr>
          <p:cNvSpPr>
            <a:spLocks noGrp="1"/>
          </p:cNvSpPr>
          <p:nvPr>
            <p:ph type="title"/>
          </p:nvPr>
        </p:nvSpPr>
        <p:spPr/>
        <p:txBody>
          <a:bodyPr>
            <a:normAutofit fontScale="90000"/>
          </a:bodyPr>
          <a:lstStyle/>
          <a:p>
            <a:r>
              <a:rPr sz="2800">
                <a:latin typeface="Arial"/>
              </a:rPr>
              <a:t>Index </a:t>
            </a:r>
          </a:p>
        </p:txBody>
      </p:sp>
      <p:sp>
        <p:nvSpPr>
          <p:cNvPr id="5" name="Rectangle 2">
            <a:extLst>
              <a:ext uri="{FF2B5EF4-FFF2-40B4-BE49-F238E27FC236}">
                <a16:creationId xmlns:a16="http://schemas.microsoft.com/office/drawing/2014/main" id="{F6D57241-0D1D-4376-594A-1144635BC7E3}"/>
              </a:ext>
            </a:extLst>
          </p:cNvPr>
          <p:cNvSpPr>
            <a:spLocks noGrp="1" noChangeArrowheads="1"/>
          </p:cNvSpPr>
          <p:nvPr>
            <p:ph idx="1"/>
          </p:nvPr>
        </p:nvSpPr>
        <p:spPr bwMode="auto">
          <a:xfrm>
            <a:off x="838200" y="2135247"/>
            <a:ext cx="9397181" cy="3465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ts val="200"/>
              </a:spcAft>
              <a:buNone/>
              <a:defRPr sz="1200">
                <a:latin typeface="Arial"/>
              </a:defRPr>
            </a:pPr>
            <a:r>
              <a:rPr sz="1600" dirty="0"/>
              <a:t>Title of the Project</a:t>
            </a:r>
          </a:p>
          <a:p>
            <a:pPr>
              <a:spcAft>
                <a:spcPts val="200"/>
              </a:spcAft>
              <a:defRPr sz="1200">
                <a:latin typeface="Arial"/>
              </a:defRPr>
            </a:pPr>
            <a:r>
              <a:rPr sz="1600" dirty="0"/>
              <a:t>Introduction</a:t>
            </a:r>
          </a:p>
          <a:p>
            <a:pPr>
              <a:spcAft>
                <a:spcPts val="200"/>
              </a:spcAft>
              <a:defRPr sz="1200">
                <a:latin typeface="Arial"/>
              </a:defRPr>
            </a:pPr>
            <a:r>
              <a:rPr sz="1600" dirty="0"/>
              <a:t>Technologies and Tools/ Framework/ Dataset Used</a:t>
            </a:r>
          </a:p>
          <a:p>
            <a:pPr>
              <a:spcAft>
                <a:spcPts val="200"/>
              </a:spcAft>
              <a:defRPr sz="1200">
                <a:latin typeface="Arial"/>
              </a:defRPr>
            </a:pPr>
            <a:r>
              <a:rPr sz="1600" dirty="0"/>
              <a:t>Problem Statement</a:t>
            </a:r>
          </a:p>
          <a:p>
            <a:pPr>
              <a:spcAft>
                <a:spcPts val="200"/>
              </a:spcAft>
              <a:defRPr sz="1200">
                <a:latin typeface="Arial"/>
              </a:defRPr>
            </a:pPr>
            <a:r>
              <a:rPr sz="1600" dirty="0"/>
              <a:t>Objectives</a:t>
            </a:r>
          </a:p>
          <a:p>
            <a:pPr>
              <a:spcAft>
                <a:spcPts val="200"/>
              </a:spcAft>
              <a:defRPr sz="1200">
                <a:latin typeface="Arial"/>
              </a:defRPr>
            </a:pPr>
            <a:r>
              <a:rPr sz="1600" dirty="0"/>
              <a:t>Literature Survey</a:t>
            </a:r>
          </a:p>
          <a:p>
            <a:pPr>
              <a:spcAft>
                <a:spcPts val="200"/>
              </a:spcAft>
              <a:defRPr sz="1200">
                <a:latin typeface="Arial"/>
              </a:defRPr>
            </a:pPr>
            <a:r>
              <a:rPr sz="1600" dirty="0"/>
              <a:t>Proposed Methodology/Model</a:t>
            </a:r>
          </a:p>
          <a:p>
            <a:pPr>
              <a:spcAft>
                <a:spcPts val="200"/>
              </a:spcAft>
              <a:defRPr sz="1200">
                <a:latin typeface="Arial"/>
              </a:defRPr>
            </a:pPr>
            <a:r>
              <a:rPr sz="1600" dirty="0"/>
              <a:t>Architectural Design</a:t>
            </a:r>
          </a:p>
          <a:p>
            <a:pPr>
              <a:spcAft>
                <a:spcPts val="200"/>
              </a:spcAft>
              <a:defRPr sz="1200">
                <a:latin typeface="Arial"/>
              </a:defRPr>
            </a:pPr>
            <a:r>
              <a:rPr sz="1600" dirty="0"/>
              <a:t>DFD/ Flowcharts</a:t>
            </a:r>
          </a:p>
        </p:txBody>
      </p:sp>
      <p:sp>
        <p:nvSpPr>
          <p:cNvPr id="8" name="Footer Placeholder 7">
            <a:extLst>
              <a:ext uri="{FF2B5EF4-FFF2-40B4-BE49-F238E27FC236}">
                <a16:creationId xmlns:a16="http://schemas.microsoft.com/office/drawing/2014/main" id="{B59B14D3-A5DF-1690-7EDF-757FB19FF50C}"/>
              </a:ext>
            </a:extLst>
          </p:cNvPr>
          <p:cNvSpPr>
            <a:spLocks noGrp="1"/>
          </p:cNvSpPr>
          <p:nvPr>
            <p:ph type="ftr" sz="quarter" idx="11"/>
          </p:nvPr>
        </p:nvSpPr>
        <p:spPr/>
        <p:txBody>
          <a:bodyPr/>
          <a:lstStyle/>
          <a:p>
            <a:r>
              <a:rPr lang="en-IN" sz="800">
                <a:latin typeface="Arial"/>
              </a:rPr>
              <a:t>SCA,DSU</a:t>
            </a:r>
          </a:p>
        </p:txBody>
      </p:sp>
      <p:sp>
        <p:nvSpPr>
          <p:cNvPr id="9" name="Slide Number Placeholder 8">
            <a:extLst>
              <a:ext uri="{FF2B5EF4-FFF2-40B4-BE49-F238E27FC236}">
                <a16:creationId xmlns:a16="http://schemas.microsoft.com/office/drawing/2014/main" id="{99B0197A-889D-74C9-48AF-DE22188D3781}"/>
              </a:ext>
            </a:extLst>
          </p:cNvPr>
          <p:cNvSpPr>
            <a:spLocks noGrp="1"/>
          </p:cNvSpPr>
          <p:nvPr>
            <p:ph type="sldNum" sz="quarter" idx="12"/>
          </p:nvPr>
        </p:nvSpPr>
        <p:spPr/>
        <p:txBody>
          <a:bodyPr/>
          <a:lstStyle/>
          <a:p>
            <a:fld id="{928E01A7-08A5-4732-95A7-378050096F40}" type="slidenum">
              <a:rPr lang="en-IN" smtClean="0"/>
              <a:t>2</a:t>
            </a:fld>
            <a:endParaRPr lang="en-IN"/>
          </a:p>
        </p:txBody>
      </p:sp>
    </p:spTree>
    <p:extLst>
      <p:ext uri="{BB962C8B-B14F-4D97-AF65-F5344CB8AC3E}">
        <p14:creationId xmlns:p14="http://schemas.microsoft.com/office/powerpoint/2010/main" val="148759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10168-2D67-C7E3-F105-A2347F565F4D}"/>
              </a:ext>
            </a:extLst>
          </p:cNvPr>
          <p:cNvSpPr>
            <a:spLocks noGrp="1"/>
          </p:cNvSpPr>
          <p:nvPr>
            <p:ph type="title"/>
          </p:nvPr>
        </p:nvSpPr>
        <p:spPr/>
        <p:txBody>
          <a:bodyPr>
            <a:noAutofit/>
          </a:bodyPr>
          <a:lstStyle/>
          <a:p>
            <a:r>
              <a:rPr sz="3600" dirty="0">
                <a:latin typeface="Arial"/>
              </a:rPr>
              <a:t>Introduction</a:t>
            </a:r>
            <a:endParaRPr sz="2800" dirty="0">
              <a:latin typeface="Arial"/>
            </a:endParaRPr>
          </a:p>
        </p:txBody>
      </p:sp>
      <p:sp>
        <p:nvSpPr>
          <p:cNvPr id="3" name="Content Placeholder 2">
            <a:extLst>
              <a:ext uri="{FF2B5EF4-FFF2-40B4-BE49-F238E27FC236}">
                <a16:creationId xmlns:a16="http://schemas.microsoft.com/office/drawing/2014/main" id="{73D65468-2168-FE83-F02E-36572C2BA96C}"/>
              </a:ext>
            </a:extLst>
          </p:cNvPr>
          <p:cNvSpPr>
            <a:spLocks noGrp="1"/>
          </p:cNvSpPr>
          <p:nvPr>
            <p:ph idx="1"/>
          </p:nvPr>
        </p:nvSpPr>
        <p:spPr/>
        <p:txBody>
          <a:bodyPr wrap="square">
            <a:normAutofit/>
          </a:bodyPr>
          <a:lstStyle/>
          <a:p>
            <a:pPr marL="0" indent="0">
              <a:spcAft>
                <a:spcPts val="600"/>
              </a:spcAft>
              <a:buNone/>
              <a:defRPr sz="1400">
                <a:latin typeface="Arial"/>
              </a:defRPr>
            </a:pPr>
            <a:r>
              <a:rPr lang="en-US" sz="2000" dirty="0"/>
              <a:t>YAANA is an</a:t>
            </a:r>
            <a:r>
              <a:rPr sz="2000" dirty="0"/>
              <a:t> AI-Based Student Ride Matching System </a:t>
            </a:r>
            <a:r>
              <a:rPr lang="en-US" sz="2000" dirty="0"/>
              <a:t>which is a </a:t>
            </a:r>
            <a:r>
              <a:rPr sz="2000" dirty="0"/>
              <a:t>full-stack platform that helps verified college students find travel partners moving on similar routes at similar times.</a:t>
            </a:r>
            <a:endParaRPr lang="en-US" sz="2000" dirty="0"/>
          </a:p>
          <a:p>
            <a:pPr marL="0" indent="0">
              <a:spcAft>
                <a:spcPts val="600"/>
              </a:spcAft>
              <a:buNone/>
              <a:defRPr sz="1400">
                <a:latin typeface="Arial"/>
              </a:defRPr>
            </a:pPr>
            <a:endParaRPr sz="2000" dirty="0"/>
          </a:p>
          <a:p>
            <a:pPr>
              <a:spcAft>
                <a:spcPts val="200"/>
              </a:spcAft>
              <a:defRPr sz="1400">
                <a:latin typeface="Arial"/>
              </a:defRPr>
            </a:pPr>
            <a:r>
              <a:rPr sz="2000" dirty="0"/>
              <a:t>Uses AI/ML to rank suitable ride partners instead of listing random matches.</a:t>
            </a:r>
          </a:p>
          <a:p>
            <a:pPr>
              <a:spcAft>
                <a:spcPts val="200"/>
              </a:spcAft>
              <a:defRPr sz="1400">
                <a:latin typeface="Arial"/>
              </a:defRPr>
            </a:pPr>
            <a:r>
              <a:rPr sz="2000" dirty="0"/>
              <a:t>Compares route overlap, departure time, transport mode, detour distance and estimated cost savings.</a:t>
            </a:r>
          </a:p>
          <a:p>
            <a:pPr>
              <a:spcAft>
                <a:spcPts val="200"/>
              </a:spcAft>
              <a:defRPr sz="1400">
                <a:latin typeface="Arial"/>
              </a:defRPr>
            </a:pPr>
            <a:r>
              <a:rPr sz="2000" dirty="0"/>
              <a:t>Helps students reduce travel cost, coordinate rides safely and maintain trip history.</a:t>
            </a:r>
          </a:p>
          <a:p>
            <a:pPr>
              <a:spcAft>
                <a:spcPts val="200"/>
              </a:spcAft>
              <a:defRPr sz="1400">
                <a:latin typeface="Arial"/>
              </a:defRPr>
            </a:pPr>
            <a:r>
              <a:rPr sz="2000" dirty="0"/>
              <a:t>Designed as a verified student-to-student platform using React, Express, </a:t>
            </a:r>
            <a:r>
              <a:rPr sz="2000" dirty="0" err="1"/>
              <a:t>Supabase</a:t>
            </a:r>
            <a:r>
              <a:rPr sz="2000" dirty="0"/>
              <a:t> and Python ML.</a:t>
            </a:r>
          </a:p>
        </p:txBody>
      </p:sp>
      <p:sp>
        <p:nvSpPr>
          <p:cNvPr id="4" name="Footer Placeholder 3">
            <a:extLst>
              <a:ext uri="{FF2B5EF4-FFF2-40B4-BE49-F238E27FC236}">
                <a16:creationId xmlns:a16="http://schemas.microsoft.com/office/drawing/2014/main" id="{934EA1C2-1496-CAD4-E2A9-89F2081EE8DD}"/>
              </a:ext>
            </a:extLst>
          </p:cNvPr>
          <p:cNvSpPr>
            <a:spLocks noGrp="1"/>
          </p:cNvSpPr>
          <p:nvPr>
            <p:ph type="ftr" sz="quarter" idx="11"/>
          </p:nvPr>
        </p:nvSpPr>
        <p:spPr/>
        <p:txBody>
          <a:bodyPr/>
          <a:lstStyle/>
          <a:p>
            <a:r>
              <a:rPr lang="en-IN" sz="800">
                <a:latin typeface="Arial"/>
              </a:rPr>
              <a:t>SCA,DSU</a:t>
            </a:r>
          </a:p>
        </p:txBody>
      </p:sp>
      <p:sp>
        <p:nvSpPr>
          <p:cNvPr id="5" name="Slide Number Placeholder 4">
            <a:extLst>
              <a:ext uri="{FF2B5EF4-FFF2-40B4-BE49-F238E27FC236}">
                <a16:creationId xmlns:a16="http://schemas.microsoft.com/office/drawing/2014/main" id="{B9002470-9A40-F183-FA80-2BA5CD011D1C}"/>
              </a:ext>
            </a:extLst>
          </p:cNvPr>
          <p:cNvSpPr>
            <a:spLocks noGrp="1"/>
          </p:cNvSpPr>
          <p:nvPr>
            <p:ph type="sldNum" sz="quarter" idx="12"/>
          </p:nvPr>
        </p:nvSpPr>
        <p:spPr/>
        <p:txBody>
          <a:bodyPr/>
          <a:lstStyle/>
          <a:p>
            <a:fld id="{928E01A7-08A5-4732-95A7-378050096F40}" type="slidenum">
              <a:rPr lang="en-IN" smtClean="0"/>
              <a:t>3</a:t>
            </a:fld>
            <a:endParaRPr lang="en-IN"/>
          </a:p>
        </p:txBody>
      </p:sp>
    </p:spTree>
    <p:extLst>
      <p:ext uri="{BB962C8B-B14F-4D97-AF65-F5344CB8AC3E}">
        <p14:creationId xmlns:p14="http://schemas.microsoft.com/office/powerpoint/2010/main" val="2099017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416E6-A6E9-E5EE-CB6B-A13EFAD9E32B}"/>
              </a:ext>
            </a:extLst>
          </p:cNvPr>
          <p:cNvSpPr>
            <a:spLocks noGrp="1"/>
          </p:cNvSpPr>
          <p:nvPr>
            <p:ph type="title"/>
          </p:nvPr>
        </p:nvSpPr>
        <p:spPr/>
        <p:txBody>
          <a:bodyPr>
            <a:normAutofit fontScale="90000"/>
          </a:bodyPr>
          <a:lstStyle/>
          <a:p>
            <a:r>
              <a:rPr sz="2500">
                <a:latin typeface="Arial"/>
              </a:rPr>
              <a:t>Technologies / Tools / Framework / Dataset Used</a:t>
            </a:r>
          </a:p>
        </p:txBody>
      </p:sp>
      <p:graphicFrame>
        <p:nvGraphicFramePr>
          <p:cNvPr id="6" name="Content Placeholder 5">
            <a:extLst>
              <a:ext uri="{FF2B5EF4-FFF2-40B4-BE49-F238E27FC236}">
                <a16:creationId xmlns:a16="http://schemas.microsoft.com/office/drawing/2014/main" id="{4A2E64F3-2378-169C-056C-CCBA8512F106}"/>
              </a:ext>
            </a:extLst>
          </p:cNvPr>
          <p:cNvGraphicFramePr>
            <a:graphicFrameLocks noGrp="1"/>
          </p:cNvGraphicFramePr>
          <p:nvPr>
            <p:ph idx="1"/>
            <p:extLst>
              <p:ext uri="{D42A27DB-BD31-4B8C-83A1-F6EECF244321}">
                <p14:modId xmlns:p14="http://schemas.microsoft.com/office/powerpoint/2010/main" val="2869279540"/>
              </p:ext>
            </p:extLst>
          </p:nvPr>
        </p:nvGraphicFramePr>
        <p:xfrm>
          <a:off x="845647" y="1595044"/>
          <a:ext cx="10608415" cy="3306470"/>
        </p:xfrm>
        <a:graphic>
          <a:graphicData uri="http://schemas.openxmlformats.org/drawingml/2006/table">
            <a:tbl>
              <a:tblPr>
                <a:tableStyleId>{5C22544A-7EE6-4342-B048-85BDC9FD1C3A}</a:tableStyleId>
              </a:tblPr>
              <a:tblGrid>
                <a:gridCol w="5298513">
                  <a:extLst>
                    <a:ext uri="{9D8B030D-6E8A-4147-A177-3AD203B41FA5}">
                      <a16:colId xmlns:a16="http://schemas.microsoft.com/office/drawing/2014/main" val="2131571574"/>
                    </a:ext>
                  </a:extLst>
                </a:gridCol>
                <a:gridCol w="5309902">
                  <a:extLst>
                    <a:ext uri="{9D8B030D-6E8A-4147-A177-3AD203B41FA5}">
                      <a16:colId xmlns:a16="http://schemas.microsoft.com/office/drawing/2014/main" val="2725338686"/>
                    </a:ext>
                  </a:extLst>
                </a:gridCol>
              </a:tblGrid>
              <a:tr h="297534">
                <a:tc>
                  <a:txBody>
                    <a:bodyPr/>
                    <a:lstStyle/>
                    <a:p>
                      <a:r>
                        <a:rPr sz="1400" b="1">
                          <a:latin typeface="Arial"/>
                        </a:rPr>
                        <a:t>Category</a:t>
                      </a:r>
                    </a:p>
                  </a:txBody>
                  <a:tcPr anchor="ctr">
                    <a:solidFill>
                      <a:schemeClr val="accent1">
                        <a:lumMod val="40000"/>
                        <a:lumOff val="60000"/>
                      </a:schemeClr>
                    </a:solidFill>
                  </a:tcPr>
                </a:tc>
                <a:tc>
                  <a:txBody>
                    <a:bodyPr/>
                    <a:lstStyle/>
                    <a:p>
                      <a:r>
                        <a:rPr sz="1400" b="1">
                          <a:latin typeface="Arial"/>
                        </a:rPr>
                        <a:t>Technology</a:t>
                      </a:r>
                    </a:p>
                  </a:txBody>
                  <a:tcPr anchor="ctr">
                    <a:solidFill>
                      <a:schemeClr val="accent3">
                        <a:lumMod val="40000"/>
                        <a:lumOff val="60000"/>
                      </a:schemeClr>
                    </a:solidFill>
                  </a:tcPr>
                </a:tc>
                <a:extLst>
                  <a:ext uri="{0D108BD9-81ED-4DB2-BD59-A6C34878D82A}">
                    <a16:rowId xmlns:a16="http://schemas.microsoft.com/office/drawing/2014/main" val="2584764640"/>
                  </a:ext>
                </a:extLst>
              </a:tr>
              <a:tr h="281004">
                <a:tc>
                  <a:txBody>
                    <a:bodyPr/>
                    <a:lstStyle/>
                    <a:p>
                      <a:r>
                        <a:rPr sz="1200">
                          <a:latin typeface="Arial"/>
                        </a:rPr>
                        <a:t>Frontend</a:t>
                      </a:r>
                    </a:p>
                  </a:txBody>
                  <a:tcPr anchor="ctr">
                    <a:solidFill>
                      <a:schemeClr val="accent1">
                        <a:lumMod val="20000"/>
                        <a:lumOff val="80000"/>
                      </a:schemeClr>
                    </a:solidFill>
                  </a:tcPr>
                </a:tc>
                <a:tc>
                  <a:txBody>
                    <a:bodyPr/>
                    <a:lstStyle/>
                    <a:p>
                      <a:r>
                        <a:rPr sz="1200">
                          <a:latin typeface="Arial"/>
                        </a:rPr>
                        <a:t>React.js</a:t>
                      </a:r>
                    </a:p>
                  </a:txBody>
                  <a:tcPr anchor="ctr">
                    <a:solidFill>
                      <a:schemeClr val="accent3">
                        <a:lumMod val="20000"/>
                        <a:lumOff val="80000"/>
                      </a:schemeClr>
                    </a:solidFill>
                  </a:tcPr>
                </a:tc>
                <a:extLst>
                  <a:ext uri="{0D108BD9-81ED-4DB2-BD59-A6C34878D82A}">
                    <a16:rowId xmlns:a16="http://schemas.microsoft.com/office/drawing/2014/main" val="2596817430"/>
                  </a:ext>
                </a:extLst>
              </a:tr>
              <a:tr h="281004">
                <a:tc>
                  <a:txBody>
                    <a:bodyPr/>
                    <a:lstStyle/>
                    <a:p>
                      <a:r>
                        <a:rPr sz="1200">
                          <a:latin typeface="Arial"/>
                        </a:rPr>
                        <a:t>Backend</a:t>
                      </a:r>
                    </a:p>
                  </a:txBody>
                  <a:tcPr anchor="ctr">
                    <a:solidFill>
                      <a:schemeClr val="accent1">
                        <a:lumMod val="20000"/>
                        <a:lumOff val="80000"/>
                      </a:schemeClr>
                    </a:solidFill>
                  </a:tcPr>
                </a:tc>
                <a:tc>
                  <a:txBody>
                    <a:bodyPr/>
                    <a:lstStyle/>
                    <a:p>
                      <a:r>
                        <a:rPr sz="1200">
                          <a:latin typeface="Arial"/>
                        </a:rPr>
                        <a:t>Node.js with Express.js</a:t>
                      </a:r>
                    </a:p>
                  </a:txBody>
                  <a:tcPr anchor="ctr">
                    <a:solidFill>
                      <a:schemeClr val="accent3">
                        <a:lumMod val="20000"/>
                        <a:lumOff val="80000"/>
                      </a:schemeClr>
                    </a:solidFill>
                  </a:tcPr>
                </a:tc>
                <a:extLst>
                  <a:ext uri="{0D108BD9-81ED-4DB2-BD59-A6C34878D82A}">
                    <a16:rowId xmlns:a16="http://schemas.microsoft.com/office/drawing/2014/main" val="2651171273"/>
                  </a:ext>
                </a:extLst>
              </a:tr>
              <a:tr h="281004">
                <a:tc>
                  <a:txBody>
                    <a:bodyPr/>
                    <a:lstStyle/>
                    <a:p>
                      <a:r>
                        <a:rPr sz="1200" dirty="0">
                          <a:latin typeface="Arial"/>
                        </a:rPr>
                        <a:t>Database</a:t>
                      </a:r>
                    </a:p>
                  </a:txBody>
                  <a:tcPr anchor="ctr">
                    <a:solidFill>
                      <a:schemeClr val="accent1">
                        <a:lumMod val="20000"/>
                        <a:lumOff val="80000"/>
                      </a:schemeClr>
                    </a:solidFill>
                  </a:tcPr>
                </a:tc>
                <a:tc>
                  <a:txBody>
                    <a:bodyPr/>
                    <a:lstStyle/>
                    <a:p>
                      <a:r>
                        <a:rPr sz="1200">
                          <a:latin typeface="Arial"/>
                        </a:rPr>
                        <a:t>Supabase</a:t>
                      </a:r>
                    </a:p>
                  </a:txBody>
                  <a:tcPr anchor="ctr">
                    <a:solidFill>
                      <a:schemeClr val="accent3">
                        <a:lumMod val="20000"/>
                        <a:lumOff val="80000"/>
                      </a:schemeClr>
                    </a:solidFill>
                  </a:tcPr>
                </a:tc>
                <a:extLst>
                  <a:ext uri="{0D108BD9-81ED-4DB2-BD59-A6C34878D82A}">
                    <a16:rowId xmlns:a16="http://schemas.microsoft.com/office/drawing/2014/main" val="2865832719"/>
                  </a:ext>
                </a:extLst>
              </a:tr>
              <a:tr h="281004">
                <a:tc>
                  <a:txBody>
                    <a:bodyPr/>
                    <a:lstStyle/>
                    <a:p>
                      <a:r>
                        <a:rPr sz="1200">
                          <a:latin typeface="Arial"/>
                        </a:rPr>
                        <a:t>Authentication</a:t>
                      </a:r>
                    </a:p>
                  </a:txBody>
                  <a:tcPr anchor="ctr">
                    <a:solidFill>
                      <a:schemeClr val="accent1">
                        <a:lumMod val="20000"/>
                        <a:lumOff val="80000"/>
                      </a:schemeClr>
                    </a:solidFill>
                  </a:tcPr>
                </a:tc>
                <a:tc>
                  <a:txBody>
                    <a:bodyPr/>
                    <a:lstStyle/>
                    <a:p>
                      <a:r>
                        <a:rPr sz="1200">
                          <a:latin typeface="Arial"/>
                        </a:rPr>
                        <a:t>College email / ID based verification</a:t>
                      </a:r>
                    </a:p>
                  </a:txBody>
                  <a:tcPr anchor="ctr">
                    <a:solidFill>
                      <a:schemeClr val="accent3">
                        <a:lumMod val="20000"/>
                        <a:lumOff val="80000"/>
                      </a:schemeClr>
                    </a:solidFill>
                  </a:tcPr>
                </a:tc>
                <a:extLst>
                  <a:ext uri="{0D108BD9-81ED-4DB2-BD59-A6C34878D82A}">
                    <a16:rowId xmlns:a16="http://schemas.microsoft.com/office/drawing/2014/main" val="3555923369"/>
                  </a:ext>
                </a:extLst>
              </a:tr>
              <a:tr h="281004">
                <a:tc>
                  <a:txBody>
                    <a:bodyPr/>
                    <a:lstStyle/>
                    <a:p>
                      <a:r>
                        <a:rPr sz="1200">
                          <a:latin typeface="Arial"/>
                        </a:rPr>
                        <a:t>AI/ML Component</a:t>
                      </a:r>
                    </a:p>
                  </a:txBody>
                  <a:tcPr anchor="ctr">
                    <a:solidFill>
                      <a:schemeClr val="accent1">
                        <a:lumMod val="20000"/>
                        <a:lumOff val="80000"/>
                      </a:schemeClr>
                    </a:solidFill>
                  </a:tcPr>
                </a:tc>
                <a:tc>
                  <a:txBody>
                    <a:bodyPr/>
                    <a:lstStyle/>
                    <a:p>
                      <a:r>
                        <a:rPr sz="1200" dirty="0">
                          <a:latin typeface="Arial"/>
                        </a:rPr>
                        <a:t>Python + Scikit-learn</a:t>
                      </a:r>
                    </a:p>
                  </a:txBody>
                  <a:tcPr anchor="ctr">
                    <a:solidFill>
                      <a:schemeClr val="accent3">
                        <a:lumMod val="20000"/>
                        <a:lumOff val="80000"/>
                      </a:schemeClr>
                    </a:solidFill>
                  </a:tcPr>
                </a:tc>
                <a:extLst>
                  <a:ext uri="{0D108BD9-81ED-4DB2-BD59-A6C34878D82A}">
                    <a16:rowId xmlns:a16="http://schemas.microsoft.com/office/drawing/2014/main" val="483717784"/>
                  </a:ext>
                </a:extLst>
              </a:tr>
              <a:tr h="281004">
                <a:tc>
                  <a:txBody>
                    <a:bodyPr/>
                    <a:lstStyle/>
                    <a:p>
                      <a:r>
                        <a:rPr sz="1200">
                          <a:latin typeface="Arial"/>
                        </a:rPr>
                        <a:t>Matching Logic</a:t>
                      </a:r>
                    </a:p>
                  </a:txBody>
                  <a:tcPr anchor="ctr">
                    <a:solidFill>
                      <a:schemeClr val="accent1">
                        <a:lumMod val="20000"/>
                        <a:lumOff val="80000"/>
                      </a:schemeClr>
                    </a:solidFill>
                  </a:tcPr>
                </a:tc>
                <a:tc>
                  <a:txBody>
                    <a:bodyPr/>
                    <a:lstStyle/>
                    <a:p>
                      <a:r>
                        <a:rPr sz="1200">
                          <a:latin typeface="Arial"/>
                        </a:rPr>
                        <a:t>Weighted scoring + future ML ranking</a:t>
                      </a:r>
                    </a:p>
                  </a:txBody>
                  <a:tcPr anchor="ctr">
                    <a:solidFill>
                      <a:schemeClr val="accent3">
                        <a:lumMod val="20000"/>
                        <a:lumOff val="80000"/>
                      </a:schemeClr>
                    </a:solidFill>
                  </a:tcPr>
                </a:tc>
                <a:extLst>
                  <a:ext uri="{0D108BD9-81ED-4DB2-BD59-A6C34878D82A}">
                    <a16:rowId xmlns:a16="http://schemas.microsoft.com/office/drawing/2014/main" val="2010566375"/>
                  </a:ext>
                </a:extLst>
              </a:tr>
              <a:tr h="281004">
                <a:tc>
                  <a:txBody>
                    <a:bodyPr/>
                    <a:lstStyle/>
                    <a:p>
                      <a:r>
                        <a:rPr sz="1200">
                          <a:latin typeface="Arial"/>
                        </a:rPr>
                        <a:t>Route Data</a:t>
                      </a:r>
                    </a:p>
                  </a:txBody>
                  <a:tcPr anchor="ctr">
                    <a:solidFill>
                      <a:schemeClr val="accent1">
                        <a:lumMod val="20000"/>
                        <a:lumOff val="80000"/>
                      </a:schemeClr>
                    </a:solidFill>
                  </a:tcPr>
                </a:tc>
                <a:tc>
                  <a:txBody>
                    <a:bodyPr/>
                    <a:lstStyle/>
                    <a:p>
                      <a:r>
                        <a:rPr sz="1200">
                          <a:latin typeface="Arial"/>
                        </a:rPr>
                        <a:t>Mapping and routing API</a:t>
                      </a:r>
                    </a:p>
                  </a:txBody>
                  <a:tcPr anchor="ctr">
                    <a:solidFill>
                      <a:schemeClr val="accent3">
                        <a:lumMod val="20000"/>
                        <a:lumOff val="80000"/>
                      </a:schemeClr>
                    </a:solidFill>
                  </a:tcPr>
                </a:tc>
                <a:extLst>
                  <a:ext uri="{0D108BD9-81ED-4DB2-BD59-A6C34878D82A}">
                    <a16:rowId xmlns:a16="http://schemas.microsoft.com/office/drawing/2014/main" val="1359307847"/>
                  </a:ext>
                </a:extLst>
              </a:tr>
              <a:tr h="281004">
                <a:tc>
                  <a:txBody>
                    <a:bodyPr/>
                    <a:lstStyle/>
                    <a:p>
                      <a:r>
                        <a:rPr sz="1200">
                          <a:latin typeface="Arial"/>
                        </a:rPr>
                        <a:t>Realtime Communication</a:t>
                      </a:r>
                    </a:p>
                  </a:txBody>
                  <a:tcPr anchor="ctr">
                    <a:solidFill>
                      <a:schemeClr val="accent1">
                        <a:lumMod val="20000"/>
                        <a:lumOff val="80000"/>
                      </a:schemeClr>
                    </a:solidFill>
                  </a:tcPr>
                </a:tc>
                <a:tc>
                  <a:txBody>
                    <a:bodyPr/>
                    <a:lstStyle/>
                    <a:p>
                      <a:r>
                        <a:rPr sz="1200">
                          <a:latin typeface="Arial"/>
                        </a:rPr>
                        <a:t>Socket.IO (Future)</a:t>
                      </a:r>
                    </a:p>
                  </a:txBody>
                  <a:tcPr anchor="ctr">
                    <a:solidFill>
                      <a:schemeClr val="accent3">
                        <a:lumMod val="20000"/>
                        <a:lumOff val="80000"/>
                      </a:schemeClr>
                    </a:solidFill>
                  </a:tcPr>
                </a:tc>
                <a:extLst>
                  <a:ext uri="{0D108BD9-81ED-4DB2-BD59-A6C34878D82A}">
                    <a16:rowId xmlns:a16="http://schemas.microsoft.com/office/drawing/2014/main" val="4269230197"/>
                  </a:ext>
                </a:extLst>
              </a:tr>
              <a:tr h="281004">
                <a:tc>
                  <a:txBody>
                    <a:bodyPr/>
                    <a:lstStyle/>
                    <a:p>
                      <a:r>
                        <a:rPr sz="1200">
                          <a:latin typeface="Arial"/>
                        </a:rPr>
                        <a:t>Version Control</a:t>
                      </a:r>
                    </a:p>
                  </a:txBody>
                  <a:tcPr anchor="ctr">
                    <a:solidFill>
                      <a:schemeClr val="accent1">
                        <a:lumMod val="20000"/>
                        <a:lumOff val="80000"/>
                      </a:schemeClr>
                    </a:solidFill>
                  </a:tcPr>
                </a:tc>
                <a:tc>
                  <a:txBody>
                    <a:bodyPr/>
                    <a:lstStyle/>
                    <a:p>
                      <a:r>
                        <a:rPr sz="1200">
                          <a:latin typeface="Arial"/>
                        </a:rPr>
                        <a:t>GitHub</a:t>
                      </a:r>
                    </a:p>
                  </a:txBody>
                  <a:tcPr anchor="ctr">
                    <a:solidFill>
                      <a:schemeClr val="accent3">
                        <a:lumMod val="20000"/>
                        <a:lumOff val="80000"/>
                      </a:schemeClr>
                    </a:solidFill>
                  </a:tcPr>
                </a:tc>
                <a:extLst>
                  <a:ext uri="{0D108BD9-81ED-4DB2-BD59-A6C34878D82A}">
                    <a16:rowId xmlns:a16="http://schemas.microsoft.com/office/drawing/2014/main" val="625221931"/>
                  </a:ext>
                </a:extLst>
              </a:tr>
              <a:tr h="472634">
                <a:tc>
                  <a:txBody>
                    <a:bodyPr/>
                    <a:lstStyle/>
                    <a:p>
                      <a:r>
                        <a:rPr sz="1200">
                          <a:latin typeface="Arial"/>
                        </a:rPr>
                        <a:t>Dataset</a:t>
                      </a:r>
                    </a:p>
                  </a:txBody>
                  <a:tcPr anchor="ctr">
                    <a:solidFill>
                      <a:schemeClr val="accent1">
                        <a:lumMod val="20000"/>
                        <a:lumOff val="80000"/>
                      </a:schemeClr>
                    </a:solidFill>
                  </a:tcPr>
                </a:tc>
                <a:tc>
                  <a:txBody>
                    <a:bodyPr/>
                    <a:lstStyle/>
                    <a:p>
                      <a:r>
                        <a:rPr sz="1200" dirty="0">
                          <a:latin typeface="Arial"/>
                        </a:rPr>
                        <a:t>Custom student trip, route and match dataset in </a:t>
                      </a:r>
                      <a:r>
                        <a:rPr sz="1200" dirty="0" err="1">
                          <a:latin typeface="Arial"/>
                        </a:rPr>
                        <a:t>Supabase</a:t>
                      </a:r>
                      <a:endParaRPr sz="1200" dirty="0">
                        <a:latin typeface="Arial"/>
                      </a:endParaRPr>
                    </a:p>
                  </a:txBody>
                  <a:tcPr anchor="ctr">
                    <a:solidFill>
                      <a:schemeClr val="accent3">
                        <a:lumMod val="20000"/>
                        <a:lumOff val="80000"/>
                      </a:schemeClr>
                    </a:solidFill>
                  </a:tcPr>
                </a:tc>
                <a:extLst>
                  <a:ext uri="{0D108BD9-81ED-4DB2-BD59-A6C34878D82A}">
                    <a16:rowId xmlns:a16="http://schemas.microsoft.com/office/drawing/2014/main" val="879657450"/>
                  </a:ext>
                </a:extLst>
              </a:tr>
            </a:tbl>
          </a:graphicData>
        </a:graphic>
      </p:graphicFrame>
      <p:sp>
        <p:nvSpPr>
          <p:cNvPr id="4" name="Footer Placeholder 3">
            <a:extLst>
              <a:ext uri="{FF2B5EF4-FFF2-40B4-BE49-F238E27FC236}">
                <a16:creationId xmlns:a16="http://schemas.microsoft.com/office/drawing/2014/main" id="{655F2B53-2A6D-6C3C-BDF1-56B38B1D380B}"/>
              </a:ext>
            </a:extLst>
          </p:cNvPr>
          <p:cNvSpPr>
            <a:spLocks noGrp="1"/>
          </p:cNvSpPr>
          <p:nvPr>
            <p:ph type="ftr" sz="quarter" idx="11"/>
          </p:nvPr>
        </p:nvSpPr>
        <p:spPr/>
        <p:txBody>
          <a:bodyPr/>
          <a:lstStyle/>
          <a:p>
            <a:r>
              <a:rPr lang="en-IN" sz="800">
                <a:latin typeface="Arial"/>
              </a:rPr>
              <a:t>SCA,DSU</a:t>
            </a:r>
          </a:p>
        </p:txBody>
      </p:sp>
      <p:sp>
        <p:nvSpPr>
          <p:cNvPr id="5" name="Slide Number Placeholder 4">
            <a:extLst>
              <a:ext uri="{FF2B5EF4-FFF2-40B4-BE49-F238E27FC236}">
                <a16:creationId xmlns:a16="http://schemas.microsoft.com/office/drawing/2014/main" id="{B152414C-C15C-2515-EC02-21BFC8AAC861}"/>
              </a:ext>
            </a:extLst>
          </p:cNvPr>
          <p:cNvSpPr>
            <a:spLocks noGrp="1"/>
          </p:cNvSpPr>
          <p:nvPr>
            <p:ph type="sldNum" sz="quarter" idx="12"/>
          </p:nvPr>
        </p:nvSpPr>
        <p:spPr/>
        <p:txBody>
          <a:bodyPr/>
          <a:lstStyle/>
          <a:p>
            <a:fld id="{928E01A7-08A5-4732-95A7-378050096F40}" type="slidenum">
              <a:rPr lang="en-IN" smtClean="0"/>
              <a:t>4</a:t>
            </a:fld>
            <a:endParaRPr lang="en-IN"/>
          </a:p>
        </p:txBody>
      </p:sp>
      <p:sp>
        <p:nvSpPr>
          <p:cNvPr id="8" name="TextBox 7">
            <a:extLst>
              <a:ext uri="{FF2B5EF4-FFF2-40B4-BE49-F238E27FC236}">
                <a16:creationId xmlns:a16="http://schemas.microsoft.com/office/drawing/2014/main" id="{75A342F1-27C5-1142-FD6E-B925891D94EC}"/>
              </a:ext>
            </a:extLst>
          </p:cNvPr>
          <p:cNvSpPr txBox="1"/>
          <p:nvPr/>
        </p:nvSpPr>
        <p:spPr>
          <a:xfrm>
            <a:off x="838200" y="4940018"/>
            <a:ext cx="4972366" cy="1066959"/>
          </a:xfrm>
          <a:prstGeom prst="rect">
            <a:avLst/>
          </a:prstGeom>
          <a:noFill/>
        </p:spPr>
        <p:txBody>
          <a:bodyPr wrap="square">
            <a:spAutoFit/>
          </a:bodyPr>
          <a:lstStyle/>
          <a:p>
            <a:pPr>
              <a:spcAft>
                <a:spcPts val="600"/>
              </a:spcAft>
              <a:buNone/>
              <a:defRPr sz="1000">
                <a:latin typeface="Arial"/>
              </a:defRPr>
            </a:pPr>
            <a:r>
              <a:rPr sz="1100" dirty="0"/>
              <a:t>AI/ML matching uses multiple trip features to calculate compatibility.</a:t>
            </a:r>
          </a:p>
          <a:p>
            <a:pPr marL="171450" indent="-171450">
              <a:spcAft>
                <a:spcPts val="200"/>
              </a:spcAft>
              <a:buFont typeface="Arial" panose="020B0604020202020204" pitchFamily="34" charset="0"/>
              <a:buChar char="•"/>
              <a:defRPr sz="1000">
                <a:latin typeface="Arial"/>
              </a:defRPr>
            </a:pPr>
            <a:r>
              <a:rPr sz="1100" dirty="0"/>
              <a:t>Initial model: weighted scoring and recommendation algorithm.</a:t>
            </a:r>
          </a:p>
          <a:p>
            <a:pPr marL="171450" indent="-171450">
              <a:spcAft>
                <a:spcPts val="200"/>
              </a:spcAft>
              <a:buFont typeface="Arial" panose="020B0604020202020204" pitchFamily="34" charset="0"/>
              <a:buChar char="•"/>
              <a:defRPr sz="1000">
                <a:latin typeface="Arial"/>
              </a:defRPr>
            </a:pPr>
            <a:r>
              <a:rPr sz="1100" dirty="0"/>
              <a:t>Future model options: KNN similarity, Logistic Regression or Decision Tree ranking.</a:t>
            </a:r>
          </a:p>
          <a:p>
            <a:pPr marL="171450" indent="-171450">
              <a:spcAft>
                <a:spcPts val="200"/>
              </a:spcAft>
              <a:buFont typeface="Arial" panose="020B0604020202020204" pitchFamily="34" charset="0"/>
              <a:buChar char="•"/>
              <a:defRPr sz="1000">
                <a:latin typeface="Arial"/>
              </a:defRPr>
            </a:pPr>
            <a:r>
              <a:rPr sz="1100" dirty="0"/>
              <a:t>Route and detour values are calculated using mapping/routing API data.</a:t>
            </a:r>
          </a:p>
        </p:txBody>
      </p:sp>
      <p:sp>
        <p:nvSpPr>
          <p:cNvPr id="16" name="TextBox 15"/>
          <p:cNvSpPr txBox="1"/>
          <p:nvPr/>
        </p:nvSpPr>
        <p:spPr>
          <a:xfrm>
            <a:off x="6267766" y="4972376"/>
            <a:ext cx="5086034" cy="882293"/>
          </a:xfrm>
          <a:prstGeom prst="rect">
            <a:avLst/>
          </a:prstGeom>
          <a:noFill/>
        </p:spPr>
        <p:txBody>
          <a:bodyPr wrap="square">
            <a:spAutoFit/>
          </a:bodyPr>
          <a:lstStyle/>
          <a:p>
            <a:pPr>
              <a:spcAft>
                <a:spcPts val="200"/>
              </a:spcAft>
              <a:defRPr sz="950" b="1">
                <a:latin typeface="Arial"/>
              </a:defRPr>
            </a:pPr>
            <a:r>
              <a:rPr sz="1200" dirty="0"/>
              <a:t>Dataset features:</a:t>
            </a:r>
          </a:p>
          <a:p>
            <a:pPr marL="171450" indent="-171450">
              <a:spcAft>
                <a:spcPts val="200"/>
              </a:spcAft>
              <a:buFont typeface="Arial" panose="020B0604020202020204" pitchFamily="34" charset="0"/>
              <a:buChar char="•"/>
              <a:defRPr sz="950" b="0">
                <a:latin typeface="Arial"/>
              </a:defRPr>
            </a:pPr>
            <a:r>
              <a:rPr sz="1200" dirty="0"/>
              <a:t>Student ID, verified status, source, destination, departure time, mode, route distance, detour, estimated cost, match status and savings.</a:t>
            </a:r>
          </a:p>
          <a:p>
            <a:pPr marL="171450" indent="-171450">
              <a:spcAft>
                <a:spcPts val="200"/>
              </a:spcAft>
              <a:buFont typeface="Arial" panose="020B0604020202020204" pitchFamily="34" charset="0"/>
              <a:buChar char="•"/>
              <a:defRPr sz="950" b="0">
                <a:latin typeface="Arial"/>
              </a:defRPr>
            </a:pPr>
            <a:r>
              <a:rPr sz="1200" dirty="0"/>
              <a:t>These features support compatibility scoring and future ML training.</a:t>
            </a:r>
          </a:p>
        </p:txBody>
      </p:sp>
    </p:spTree>
    <p:extLst>
      <p:ext uri="{BB962C8B-B14F-4D97-AF65-F5344CB8AC3E}">
        <p14:creationId xmlns:p14="http://schemas.microsoft.com/office/powerpoint/2010/main" val="2284909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D73A7-961E-8969-9776-286E5B7D1CF4}"/>
              </a:ext>
            </a:extLst>
          </p:cNvPr>
          <p:cNvSpPr>
            <a:spLocks noGrp="1"/>
          </p:cNvSpPr>
          <p:nvPr>
            <p:ph type="title"/>
          </p:nvPr>
        </p:nvSpPr>
        <p:spPr/>
        <p:txBody>
          <a:bodyPr>
            <a:normAutofit/>
          </a:bodyPr>
          <a:lstStyle/>
          <a:p>
            <a:r>
              <a:rPr sz="3200" dirty="0">
                <a:latin typeface="Arial"/>
              </a:rPr>
              <a:t>Problem Statement</a:t>
            </a:r>
          </a:p>
        </p:txBody>
      </p:sp>
      <p:sp>
        <p:nvSpPr>
          <p:cNvPr id="3" name="Content Placeholder 2">
            <a:extLst>
              <a:ext uri="{FF2B5EF4-FFF2-40B4-BE49-F238E27FC236}">
                <a16:creationId xmlns:a16="http://schemas.microsoft.com/office/drawing/2014/main" id="{583FC7BD-B445-8385-85C7-E747E976050E}"/>
              </a:ext>
            </a:extLst>
          </p:cNvPr>
          <p:cNvSpPr>
            <a:spLocks noGrp="1"/>
          </p:cNvSpPr>
          <p:nvPr>
            <p:ph idx="1"/>
          </p:nvPr>
        </p:nvSpPr>
        <p:spPr>
          <a:xfrm>
            <a:off x="838200" y="1825625"/>
            <a:ext cx="10086474" cy="4351338"/>
          </a:xfrm>
        </p:spPr>
        <p:txBody>
          <a:bodyPr wrap="square">
            <a:normAutofit/>
          </a:bodyPr>
          <a:lstStyle/>
          <a:p>
            <a:pPr marL="0" indent="0">
              <a:spcAft>
                <a:spcPts val="600"/>
              </a:spcAft>
              <a:buNone/>
              <a:defRPr sz="1300">
                <a:latin typeface="Arial"/>
              </a:defRPr>
            </a:pPr>
            <a:r>
              <a:rPr sz="2000" dirty="0"/>
              <a:t>Many college students travel to campus on similar routes and timings, but they usually book separate autos or cabs because there is no verified platform to identify safe and suitable travel partners.</a:t>
            </a:r>
            <a:endParaRPr lang="en-US" sz="1600" dirty="0"/>
          </a:p>
          <a:p>
            <a:pPr>
              <a:spcAft>
                <a:spcPts val="200"/>
              </a:spcAft>
              <a:defRPr sz="1300">
                <a:latin typeface="Arial"/>
              </a:defRPr>
            </a:pPr>
            <a:r>
              <a:rPr sz="2000" dirty="0"/>
              <a:t>Students cannot easily find others travelling from nearby locations.</a:t>
            </a:r>
          </a:p>
          <a:p>
            <a:pPr>
              <a:spcAft>
                <a:spcPts val="200"/>
              </a:spcAft>
              <a:defRPr sz="1300">
                <a:latin typeface="Arial"/>
              </a:defRPr>
            </a:pPr>
            <a:r>
              <a:rPr sz="2000" dirty="0"/>
              <a:t>Manual coordination is difficult and may not consider route overlap or time difference.</a:t>
            </a:r>
          </a:p>
          <a:p>
            <a:pPr>
              <a:spcAft>
                <a:spcPts val="200"/>
              </a:spcAft>
              <a:defRPr sz="1300">
                <a:latin typeface="Arial"/>
              </a:defRPr>
            </a:pPr>
            <a:r>
              <a:rPr sz="2000" dirty="0"/>
              <a:t>Separate rides increase travel expenses and duplicate journeys.</a:t>
            </a:r>
          </a:p>
          <a:p>
            <a:pPr>
              <a:spcAft>
                <a:spcPts val="200"/>
              </a:spcAft>
              <a:defRPr sz="1300">
                <a:latin typeface="Arial"/>
              </a:defRPr>
            </a:pPr>
            <a:r>
              <a:rPr sz="2000" dirty="0"/>
              <a:t>The system must rank potential ride partners using route, time, detour, transport mode and cost-saving factors.</a:t>
            </a:r>
          </a:p>
          <a:p>
            <a:pPr>
              <a:spcAft>
                <a:spcPts val="200"/>
              </a:spcAft>
              <a:defRPr sz="1300">
                <a:latin typeface="Arial"/>
              </a:defRPr>
            </a:pPr>
            <a:r>
              <a:rPr sz="2000" dirty="0"/>
              <a:t>The platform should also protect student privacy and verify users through college identity.</a:t>
            </a:r>
          </a:p>
        </p:txBody>
      </p:sp>
      <p:sp>
        <p:nvSpPr>
          <p:cNvPr id="4" name="Footer Placeholder 3">
            <a:extLst>
              <a:ext uri="{FF2B5EF4-FFF2-40B4-BE49-F238E27FC236}">
                <a16:creationId xmlns:a16="http://schemas.microsoft.com/office/drawing/2014/main" id="{7E37F268-D299-D023-0AA3-3292AC73C9C0}"/>
              </a:ext>
            </a:extLst>
          </p:cNvPr>
          <p:cNvSpPr>
            <a:spLocks noGrp="1"/>
          </p:cNvSpPr>
          <p:nvPr>
            <p:ph type="ftr" sz="quarter" idx="11"/>
          </p:nvPr>
        </p:nvSpPr>
        <p:spPr/>
        <p:txBody>
          <a:bodyPr/>
          <a:lstStyle/>
          <a:p>
            <a:r>
              <a:rPr lang="en-IN" sz="800">
                <a:latin typeface="Arial"/>
              </a:rPr>
              <a:t>SCA,DSU</a:t>
            </a:r>
          </a:p>
        </p:txBody>
      </p:sp>
      <p:sp>
        <p:nvSpPr>
          <p:cNvPr id="5" name="Slide Number Placeholder 4">
            <a:extLst>
              <a:ext uri="{FF2B5EF4-FFF2-40B4-BE49-F238E27FC236}">
                <a16:creationId xmlns:a16="http://schemas.microsoft.com/office/drawing/2014/main" id="{77E1E813-9690-ACDA-3EDB-F5CB005C6916}"/>
              </a:ext>
            </a:extLst>
          </p:cNvPr>
          <p:cNvSpPr>
            <a:spLocks noGrp="1"/>
          </p:cNvSpPr>
          <p:nvPr>
            <p:ph type="sldNum" sz="quarter" idx="12"/>
          </p:nvPr>
        </p:nvSpPr>
        <p:spPr/>
        <p:txBody>
          <a:bodyPr/>
          <a:lstStyle/>
          <a:p>
            <a:fld id="{928E01A7-08A5-4732-95A7-378050096F40}" type="slidenum">
              <a:rPr lang="en-IN" smtClean="0"/>
              <a:t>5</a:t>
            </a:fld>
            <a:endParaRPr lang="en-IN" dirty="0"/>
          </a:p>
        </p:txBody>
      </p:sp>
    </p:spTree>
    <p:extLst>
      <p:ext uri="{BB962C8B-B14F-4D97-AF65-F5344CB8AC3E}">
        <p14:creationId xmlns:p14="http://schemas.microsoft.com/office/powerpoint/2010/main" val="240077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9A585-8CF2-088F-4858-57DA51A49A1D}"/>
              </a:ext>
            </a:extLst>
          </p:cNvPr>
          <p:cNvSpPr>
            <a:spLocks noGrp="1"/>
          </p:cNvSpPr>
          <p:nvPr>
            <p:ph type="title"/>
          </p:nvPr>
        </p:nvSpPr>
        <p:spPr/>
        <p:txBody>
          <a:bodyPr>
            <a:normAutofit/>
          </a:bodyPr>
          <a:lstStyle/>
          <a:p>
            <a:r>
              <a:rPr sz="3200" dirty="0">
                <a:latin typeface="Arial"/>
              </a:rPr>
              <a:t>Objectives</a:t>
            </a:r>
          </a:p>
        </p:txBody>
      </p:sp>
      <p:sp>
        <p:nvSpPr>
          <p:cNvPr id="3" name="Content Placeholder 2">
            <a:extLst>
              <a:ext uri="{FF2B5EF4-FFF2-40B4-BE49-F238E27FC236}">
                <a16:creationId xmlns:a16="http://schemas.microsoft.com/office/drawing/2014/main" id="{8A053655-01D3-3643-3FB9-8505D6B61CF8}"/>
              </a:ext>
            </a:extLst>
          </p:cNvPr>
          <p:cNvSpPr>
            <a:spLocks noGrp="1"/>
          </p:cNvSpPr>
          <p:nvPr>
            <p:ph idx="1"/>
          </p:nvPr>
        </p:nvSpPr>
        <p:spPr/>
        <p:txBody>
          <a:bodyPr wrap="square">
            <a:normAutofit/>
          </a:bodyPr>
          <a:lstStyle/>
          <a:p>
            <a:pPr>
              <a:spcAft>
                <a:spcPts val="200"/>
              </a:spcAft>
              <a:defRPr sz="1300">
                <a:latin typeface="Arial"/>
              </a:defRPr>
            </a:pPr>
            <a:r>
              <a:rPr sz="1800" dirty="0"/>
              <a:t>To develop a full-stack AI/ML-based student ride matching platform.</a:t>
            </a:r>
          </a:p>
          <a:p>
            <a:pPr>
              <a:spcAft>
                <a:spcPts val="200"/>
              </a:spcAft>
              <a:defRPr sz="1300">
                <a:latin typeface="Arial"/>
              </a:defRPr>
            </a:pPr>
            <a:r>
              <a:rPr sz="1800" dirty="0"/>
              <a:t>To verify students using college email/ID before allowing ride matching.</a:t>
            </a:r>
          </a:p>
          <a:p>
            <a:pPr>
              <a:spcAft>
                <a:spcPts val="200"/>
              </a:spcAft>
              <a:defRPr sz="1300">
                <a:latin typeface="Arial"/>
              </a:defRPr>
            </a:pPr>
            <a:r>
              <a:rPr sz="1800" dirty="0"/>
              <a:t>To allow students to create trips with source, destination, date, time and transport mode.</a:t>
            </a:r>
          </a:p>
          <a:p>
            <a:pPr>
              <a:spcAft>
                <a:spcPts val="200"/>
              </a:spcAft>
              <a:defRPr sz="1300">
                <a:latin typeface="Arial"/>
              </a:defRPr>
            </a:pPr>
            <a:r>
              <a:rPr sz="1800" dirty="0"/>
              <a:t>To compare route overlap, time compatibility, detour distance, transport mode and cost savings.</a:t>
            </a:r>
          </a:p>
          <a:p>
            <a:pPr>
              <a:spcAft>
                <a:spcPts val="200"/>
              </a:spcAft>
              <a:defRPr sz="1300">
                <a:latin typeface="Arial"/>
              </a:defRPr>
            </a:pPr>
            <a:r>
              <a:rPr sz="1800" dirty="0"/>
              <a:t>To rank the most suitable travel partners using an AI/ML recommendation component.</a:t>
            </a:r>
          </a:p>
          <a:p>
            <a:pPr>
              <a:spcAft>
                <a:spcPts val="200"/>
              </a:spcAft>
              <a:defRPr sz="1300">
                <a:latin typeface="Arial"/>
              </a:defRPr>
            </a:pPr>
            <a:r>
              <a:rPr sz="1800" dirty="0"/>
              <a:t>To enable match acceptance/rejection, communication and ride coordination.</a:t>
            </a:r>
          </a:p>
          <a:p>
            <a:pPr>
              <a:spcAft>
                <a:spcPts val="200"/>
              </a:spcAft>
              <a:defRPr sz="1300">
                <a:latin typeface="Arial"/>
              </a:defRPr>
            </a:pPr>
            <a:r>
              <a:rPr sz="1800" dirty="0"/>
              <a:t>To maintain trip history and estimated savings for future recommendations.</a:t>
            </a:r>
          </a:p>
          <a:p>
            <a:pPr>
              <a:spcAft>
                <a:spcPts val="200"/>
              </a:spcAft>
              <a:defRPr sz="1300">
                <a:latin typeface="Arial"/>
              </a:defRPr>
            </a:pPr>
            <a:r>
              <a:rPr sz="1800" dirty="0"/>
              <a:t>To provide admin management for users, trips and reports.</a:t>
            </a:r>
          </a:p>
        </p:txBody>
      </p:sp>
      <p:sp>
        <p:nvSpPr>
          <p:cNvPr id="4" name="Footer Placeholder 3">
            <a:extLst>
              <a:ext uri="{FF2B5EF4-FFF2-40B4-BE49-F238E27FC236}">
                <a16:creationId xmlns:a16="http://schemas.microsoft.com/office/drawing/2014/main" id="{C04C8A21-F14C-D280-CA80-4D154D36B39D}"/>
              </a:ext>
            </a:extLst>
          </p:cNvPr>
          <p:cNvSpPr>
            <a:spLocks noGrp="1"/>
          </p:cNvSpPr>
          <p:nvPr>
            <p:ph type="ftr" sz="quarter" idx="11"/>
          </p:nvPr>
        </p:nvSpPr>
        <p:spPr/>
        <p:txBody>
          <a:bodyPr/>
          <a:lstStyle/>
          <a:p>
            <a:r>
              <a:rPr lang="en-IN" sz="800">
                <a:latin typeface="Arial"/>
              </a:rPr>
              <a:t>SCA,DSU</a:t>
            </a:r>
          </a:p>
        </p:txBody>
      </p:sp>
      <p:sp>
        <p:nvSpPr>
          <p:cNvPr id="5" name="Slide Number Placeholder 4">
            <a:extLst>
              <a:ext uri="{FF2B5EF4-FFF2-40B4-BE49-F238E27FC236}">
                <a16:creationId xmlns:a16="http://schemas.microsoft.com/office/drawing/2014/main" id="{F6AB99D7-E897-CF9F-DDA8-B93C6ECA19BF}"/>
              </a:ext>
            </a:extLst>
          </p:cNvPr>
          <p:cNvSpPr>
            <a:spLocks noGrp="1"/>
          </p:cNvSpPr>
          <p:nvPr>
            <p:ph type="sldNum" sz="quarter" idx="12"/>
          </p:nvPr>
        </p:nvSpPr>
        <p:spPr/>
        <p:txBody>
          <a:bodyPr/>
          <a:lstStyle/>
          <a:p>
            <a:fld id="{928E01A7-08A5-4732-95A7-378050096F40}" type="slidenum">
              <a:rPr lang="en-IN" smtClean="0"/>
              <a:t>6</a:t>
            </a:fld>
            <a:endParaRPr lang="en-IN"/>
          </a:p>
        </p:txBody>
      </p:sp>
    </p:spTree>
    <p:extLst>
      <p:ext uri="{BB962C8B-B14F-4D97-AF65-F5344CB8AC3E}">
        <p14:creationId xmlns:p14="http://schemas.microsoft.com/office/powerpoint/2010/main" val="178021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FA73-D841-E8D5-296F-82513B19DA3F}"/>
              </a:ext>
            </a:extLst>
          </p:cNvPr>
          <p:cNvSpPr>
            <a:spLocks noGrp="1"/>
          </p:cNvSpPr>
          <p:nvPr>
            <p:ph type="title"/>
          </p:nvPr>
        </p:nvSpPr>
        <p:spPr/>
        <p:txBody>
          <a:bodyPr>
            <a:normAutofit/>
          </a:bodyPr>
          <a:lstStyle/>
          <a:p>
            <a:r>
              <a:rPr sz="3200" dirty="0">
                <a:latin typeface="Arial"/>
              </a:rPr>
              <a:t>Literature Survey</a:t>
            </a:r>
          </a:p>
        </p:txBody>
      </p:sp>
      <p:graphicFrame>
        <p:nvGraphicFramePr>
          <p:cNvPr id="6" name="Content Placeholder 5">
            <a:extLst>
              <a:ext uri="{FF2B5EF4-FFF2-40B4-BE49-F238E27FC236}">
                <a16:creationId xmlns:a16="http://schemas.microsoft.com/office/drawing/2014/main" id="{14D5A1A9-AAAC-7900-0A42-1F953FFAC20E}"/>
              </a:ext>
            </a:extLst>
          </p:cNvPr>
          <p:cNvGraphicFramePr>
            <a:graphicFrameLocks noGrp="1"/>
          </p:cNvGraphicFramePr>
          <p:nvPr>
            <p:ph idx="1"/>
            <p:extLst>
              <p:ext uri="{D42A27DB-BD31-4B8C-83A1-F6EECF244321}">
                <p14:modId xmlns:p14="http://schemas.microsoft.com/office/powerpoint/2010/main" val="3944046562"/>
              </p:ext>
            </p:extLst>
          </p:nvPr>
        </p:nvGraphicFramePr>
        <p:xfrm>
          <a:off x="838200" y="1690688"/>
          <a:ext cx="10371795" cy="4510733"/>
        </p:xfrm>
        <a:graphic>
          <a:graphicData uri="http://schemas.openxmlformats.org/drawingml/2006/table">
            <a:tbl>
              <a:tblPr>
                <a:tableStyleId>{5C22544A-7EE6-4342-B048-85BDC9FD1C3A}</a:tableStyleId>
              </a:tblPr>
              <a:tblGrid>
                <a:gridCol w="3457265">
                  <a:extLst>
                    <a:ext uri="{9D8B030D-6E8A-4147-A177-3AD203B41FA5}">
                      <a16:colId xmlns:a16="http://schemas.microsoft.com/office/drawing/2014/main" val="523489516"/>
                    </a:ext>
                  </a:extLst>
                </a:gridCol>
                <a:gridCol w="3457265">
                  <a:extLst>
                    <a:ext uri="{9D8B030D-6E8A-4147-A177-3AD203B41FA5}">
                      <a16:colId xmlns:a16="http://schemas.microsoft.com/office/drawing/2014/main" val="201373983"/>
                    </a:ext>
                  </a:extLst>
                </a:gridCol>
                <a:gridCol w="3457265">
                  <a:extLst>
                    <a:ext uri="{9D8B030D-6E8A-4147-A177-3AD203B41FA5}">
                      <a16:colId xmlns:a16="http://schemas.microsoft.com/office/drawing/2014/main" val="3932901415"/>
                    </a:ext>
                  </a:extLst>
                </a:gridCol>
              </a:tblGrid>
              <a:tr h="317977">
                <a:tc>
                  <a:txBody>
                    <a:bodyPr/>
                    <a:lstStyle/>
                    <a:p>
                      <a:r>
                        <a:rPr sz="1400" b="1" dirty="0">
                          <a:latin typeface="Arial"/>
                        </a:rPr>
                        <a:t>Study / Technology</a:t>
                      </a:r>
                    </a:p>
                  </a:txBody>
                  <a:tcPr marL="80580" marR="80580" marT="40290" marB="40290" anchor="ctr">
                    <a:solidFill>
                      <a:schemeClr val="accent1">
                        <a:lumMod val="40000"/>
                        <a:lumOff val="60000"/>
                      </a:schemeClr>
                    </a:solidFill>
                  </a:tcPr>
                </a:tc>
                <a:tc>
                  <a:txBody>
                    <a:bodyPr/>
                    <a:lstStyle/>
                    <a:p>
                      <a:r>
                        <a:rPr sz="1400" b="1">
                          <a:latin typeface="Arial"/>
                        </a:rPr>
                        <a:t>Key Idea</a:t>
                      </a:r>
                    </a:p>
                  </a:txBody>
                  <a:tcPr marL="80580" marR="80580" marT="40290" marB="40290" anchor="ctr">
                    <a:solidFill>
                      <a:schemeClr val="accent2">
                        <a:lumMod val="40000"/>
                        <a:lumOff val="60000"/>
                      </a:schemeClr>
                    </a:solidFill>
                  </a:tcPr>
                </a:tc>
                <a:tc>
                  <a:txBody>
                    <a:bodyPr/>
                    <a:lstStyle/>
                    <a:p>
                      <a:r>
                        <a:rPr sz="1400" b="1">
                          <a:latin typeface="Arial"/>
                        </a:rPr>
                        <a:t>Relevance to Project</a:t>
                      </a:r>
                    </a:p>
                  </a:txBody>
                  <a:tcPr marL="80580" marR="80580" marT="40290" marB="40290" anchor="ctr">
                    <a:solidFill>
                      <a:schemeClr val="accent3">
                        <a:lumMod val="40000"/>
                        <a:lumOff val="60000"/>
                      </a:schemeClr>
                    </a:solidFill>
                  </a:tcPr>
                </a:tc>
                <a:extLst>
                  <a:ext uri="{0D108BD9-81ED-4DB2-BD59-A6C34878D82A}">
                    <a16:rowId xmlns:a16="http://schemas.microsoft.com/office/drawing/2014/main" val="1159177959"/>
                  </a:ext>
                </a:extLst>
              </a:tr>
              <a:tr h="1090333">
                <a:tc>
                  <a:txBody>
                    <a:bodyPr/>
                    <a:lstStyle/>
                    <a:p>
                      <a:r>
                        <a:rPr sz="1400">
                          <a:latin typeface="Arial"/>
                        </a:rPr>
                        <a:t>Ride-sharing Systems</a:t>
                      </a:r>
                    </a:p>
                  </a:txBody>
                  <a:tcPr marL="80580" marR="80580" marT="40290" marB="40290" anchor="ctr">
                    <a:solidFill>
                      <a:schemeClr val="accent1">
                        <a:lumMod val="20000"/>
                        <a:lumOff val="80000"/>
                      </a:schemeClr>
                    </a:solidFill>
                  </a:tcPr>
                </a:tc>
                <a:tc>
                  <a:txBody>
                    <a:bodyPr/>
                    <a:lstStyle/>
                    <a:p>
                      <a:r>
                        <a:rPr sz="1400">
                          <a:latin typeface="Arial"/>
                        </a:rPr>
                        <a:t>Connect users travelling in similar directions or time windows.</a:t>
                      </a:r>
                    </a:p>
                  </a:txBody>
                  <a:tcPr marL="80580" marR="80580" marT="40290" marB="40290" anchor="ctr">
                    <a:solidFill>
                      <a:schemeClr val="accent2">
                        <a:lumMod val="20000"/>
                        <a:lumOff val="80000"/>
                      </a:schemeClr>
                    </a:solidFill>
                  </a:tcPr>
                </a:tc>
                <a:tc>
                  <a:txBody>
                    <a:bodyPr/>
                    <a:lstStyle/>
                    <a:p>
                      <a:r>
                        <a:rPr sz="1400">
                          <a:latin typeface="Arial"/>
                        </a:rPr>
                        <a:t>Core concept for student-to-student travel partner discovery.</a:t>
                      </a:r>
                    </a:p>
                  </a:txBody>
                  <a:tcPr marL="80580" marR="80580" marT="40290" marB="40290" anchor="ctr">
                    <a:solidFill>
                      <a:schemeClr val="accent3">
                        <a:lumMod val="20000"/>
                        <a:lumOff val="80000"/>
                      </a:schemeClr>
                    </a:solidFill>
                  </a:tcPr>
                </a:tc>
                <a:extLst>
                  <a:ext uri="{0D108BD9-81ED-4DB2-BD59-A6C34878D82A}">
                    <a16:rowId xmlns:a16="http://schemas.microsoft.com/office/drawing/2014/main" val="2325949884"/>
                  </a:ext>
                </a:extLst>
              </a:tr>
              <a:tr h="838551">
                <a:tc>
                  <a:txBody>
                    <a:bodyPr/>
                    <a:lstStyle/>
                    <a:p>
                      <a:r>
                        <a:rPr sz="1400">
                          <a:latin typeface="Arial"/>
                        </a:rPr>
                        <a:t>Recommender Systems</a:t>
                      </a:r>
                    </a:p>
                  </a:txBody>
                  <a:tcPr marL="80580" marR="80580" marT="40290" marB="40290" anchor="ctr">
                    <a:solidFill>
                      <a:schemeClr val="accent1">
                        <a:lumMod val="20000"/>
                        <a:lumOff val="80000"/>
                      </a:schemeClr>
                    </a:solidFill>
                  </a:tcPr>
                </a:tc>
                <a:tc>
                  <a:txBody>
                    <a:bodyPr/>
                    <a:lstStyle/>
                    <a:p>
                      <a:r>
                        <a:rPr sz="1400">
                          <a:latin typeface="Arial"/>
                        </a:rPr>
                        <a:t>Rank suitable options using similarity, weights and user preference data.</a:t>
                      </a:r>
                    </a:p>
                  </a:txBody>
                  <a:tcPr marL="80580" marR="80580" marT="40290" marB="40290" anchor="ctr">
                    <a:solidFill>
                      <a:schemeClr val="accent2">
                        <a:lumMod val="20000"/>
                        <a:lumOff val="80000"/>
                      </a:schemeClr>
                    </a:solidFill>
                  </a:tcPr>
                </a:tc>
                <a:tc>
                  <a:txBody>
                    <a:bodyPr/>
                    <a:lstStyle/>
                    <a:p>
                      <a:r>
                        <a:rPr sz="1400">
                          <a:latin typeface="Arial"/>
                        </a:rPr>
                        <a:t>Used to rank the best ride matches instead of random listing.</a:t>
                      </a:r>
                    </a:p>
                  </a:txBody>
                  <a:tcPr marL="80580" marR="80580" marT="40290" marB="40290" anchor="ctr">
                    <a:solidFill>
                      <a:schemeClr val="accent3">
                        <a:lumMod val="20000"/>
                        <a:lumOff val="80000"/>
                      </a:schemeClr>
                    </a:solidFill>
                  </a:tcPr>
                </a:tc>
                <a:extLst>
                  <a:ext uri="{0D108BD9-81ED-4DB2-BD59-A6C34878D82A}">
                    <a16:rowId xmlns:a16="http://schemas.microsoft.com/office/drawing/2014/main" val="1218372844"/>
                  </a:ext>
                </a:extLst>
              </a:tr>
              <a:tr h="838551">
                <a:tc>
                  <a:txBody>
                    <a:bodyPr/>
                    <a:lstStyle/>
                    <a:p>
                      <a:r>
                        <a:rPr sz="1400">
                          <a:latin typeface="Arial"/>
                        </a:rPr>
                        <a:t>KNN Similarity</a:t>
                      </a:r>
                    </a:p>
                  </a:txBody>
                  <a:tcPr marL="80580" marR="80580" marT="40290" marB="40290" anchor="ctr">
                    <a:solidFill>
                      <a:schemeClr val="accent1">
                        <a:lumMod val="20000"/>
                        <a:lumOff val="80000"/>
                      </a:schemeClr>
                    </a:solidFill>
                  </a:tcPr>
                </a:tc>
                <a:tc>
                  <a:txBody>
                    <a:bodyPr/>
                    <a:lstStyle/>
                    <a:p>
                      <a:r>
                        <a:rPr sz="1400">
                          <a:latin typeface="Arial"/>
                        </a:rPr>
                        <a:t>Finds nearby records based on selected numerical or encoded features.</a:t>
                      </a:r>
                    </a:p>
                  </a:txBody>
                  <a:tcPr marL="80580" marR="80580" marT="40290" marB="40290" anchor="ctr">
                    <a:solidFill>
                      <a:schemeClr val="accent2">
                        <a:lumMod val="20000"/>
                        <a:lumOff val="80000"/>
                      </a:schemeClr>
                    </a:solidFill>
                  </a:tcPr>
                </a:tc>
                <a:tc>
                  <a:txBody>
                    <a:bodyPr/>
                    <a:lstStyle/>
                    <a:p>
                      <a:r>
                        <a:rPr sz="1400">
                          <a:latin typeface="Arial"/>
                        </a:rPr>
                        <a:t>Future ML model for route/time/transport-based match similarity.</a:t>
                      </a:r>
                    </a:p>
                  </a:txBody>
                  <a:tcPr marL="80580" marR="80580" marT="40290" marB="40290" anchor="ctr">
                    <a:solidFill>
                      <a:schemeClr val="accent3">
                        <a:lumMod val="20000"/>
                        <a:lumOff val="80000"/>
                      </a:schemeClr>
                    </a:solidFill>
                  </a:tcPr>
                </a:tc>
                <a:extLst>
                  <a:ext uri="{0D108BD9-81ED-4DB2-BD59-A6C34878D82A}">
                    <a16:rowId xmlns:a16="http://schemas.microsoft.com/office/drawing/2014/main" val="4216896429"/>
                  </a:ext>
                </a:extLst>
              </a:tr>
              <a:tr h="838551">
                <a:tc>
                  <a:txBody>
                    <a:bodyPr/>
                    <a:lstStyle/>
                    <a:p>
                      <a:r>
                        <a:rPr sz="1400">
                          <a:latin typeface="Arial"/>
                        </a:rPr>
                        <a:t>Route Optimization APIs</a:t>
                      </a:r>
                    </a:p>
                  </a:txBody>
                  <a:tcPr marL="80580" marR="80580" marT="40290" marB="40290" anchor="ctr">
                    <a:solidFill>
                      <a:schemeClr val="accent1">
                        <a:lumMod val="20000"/>
                        <a:lumOff val="80000"/>
                      </a:schemeClr>
                    </a:solidFill>
                  </a:tcPr>
                </a:tc>
                <a:tc>
                  <a:txBody>
                    <a:bodyPr/>
                    <a:lstStyle/>
                    <a:p>
                      <a:r>
                        <a:rPr sz="1400">
                          <a:latin typeface="Arial"/>
                        </a:rPr>
                        <a:t>Estimate distance, route overlap, detour and travel time.</a:t>
                      </a:r>
                    </a:p>
                  </a:txBody>
                  <a:tcPr marL="80580" marR="80580" marT="40290" marB="40290" anchor="ctr">
                    <a:solidFill>
                      <a:schemeClr val="accent2">
                        <a:lumMod val="20000"/>
                        <a:lumOff val="80000"/>
                      </a:schemeClr>
                    </a:solidFill>
                  </a:tcPr>
                </a:tc>
                <a:tc>
                  <a:txBody>
                    <a:bodyPr/>
                    <a:lstStyle/>
                    <a:p>
                      <a:r>
                        <a:rPr sz="1400">
                          <a:latin typeface="Arial"/>
                        </a:rPr>
                        <a:t>Provides map-based features required for compatibility scoring.</a:t>
                      </a:r>
                    </a:p>
                  </a:txBody>
                  <a:tcPr marL="80580" marR="80580" marT="40290" marB="40290" anchor="ctr">
                    <a:solidFill>
                      <a:schemeClr val="accent3">
                        <a:lumMod val="20000"/>
                        <a:lumOff val="80000"/>
                      </a:schemeClr>
                    </a:solidFill>
                  </a:tcPr>
                </a:tc>
                <a:extLst>
                  <a:ext uri="{0D108BD9-81ED-4DB2-BD59-A6C34878D82A}">
                    <a16:rowId xmlns:a16="http://schemas.microsoft.com/office/drawing/2014/main" val="4024887488"/>
                  </a:ext>
                </a:extLst>
              </a:tr>
              <a:tr h="586770">
                <a:tc>
                  <a:txBody>
                    <a:bodyPr/>
                    <a:lstStyle/>
                    <a:p>
                      <a:r>
                        <a:rPr sz="1400">
                          <a:latin typeface="Arial"/>
                        </a:rPr>
                        <a:t>Privacy-Aware Platforms</a:t>
                      </a:r>
                    </a:p>
                  </a:txBody>
                  <a:tcPr marL="80580" marR="80580" marT="40290" marB="40290" anchor="ctr">
                    <a:solidFill>
                      <a:schemeClr val="accent1">
                        <a:lumMod val="20000"/>
                        <a:lumOff val="80000"/>
                      </a:schemeClr>
                    </a:solidFill>
                  </a:tcPr>
                </a:tc>
                <a:tc>
                  <a:txBody>
                    <a:bodyPr/>
                    <a:lstStyle/>
                    <a:p>
                      <a:r>
                        <a:rPr sz="1400">
                          <a:latin typeface="Arial"/>
                        </a:rPr>
                        <a:t>Protect sensitive information such as location, identity and contact details.</a:t>
                      </a:r>
                    </a:p>
                  </a:txBody>
                  <a:tcPr marL="80580" marR="80580" marT="40290" marB="40290" anchor="ctr">
                    <a:solidFill>
                      <a:schemeClr val="accent2">
                        <a:lumMod val="20000"/>
                        <a:lumOff val="80000"/>
                      </a:schemeClr>
                    </a:solidFill>
                  </a:tcPr>
                </a:tc>
                <a:tc>
                  <a:txBody>
                    <a:bodyPr/>
                    <a:lstStyle/>
                    <a:p>
                      <a:r>
                        <a:rPr sz="1400" dirty="0">
                          <a:latin typeface="Arial"/>
                        </a:rPr>
                        <a:t>Important for safe verified college-student ride matching.</a:t>
                      </a:r>
                    </a:p>
                  </a:txBody>
                  <a:tcPr marL="80580" marR="80580" marT="40290" marB="40290" anchor="ctr">
                    <a:solidFill>
                      <a:schemeClr val="accent3">
                        <a:lumMod val="20000"/>
                        <a:lumOff val="80000"/>
                      </a:schemeClr>
                    </a:solidFill>
                  </a:tcPr>
                </a:tc>
                <a:extLst>
                  <a:ext uri="{0D108BD9-81ED-4DB2-BD59-A6C34878D82A}">
                    <a16:rowId xmlns:a16="http://schemas.microsoft.com/office/drawing/2014/main" val="3482802992"/>
                  </a:ext>
                </a:extLst>
              </a:tr>
            </a:tbl>
          </a:graphicData>
        </a:graphic>
      </p:graphicFrame>
      <p:sp>
        <p:nvSpPr>
          <p:cNvPr id="4" name="Footer Placeholder 3">
            <a:extLst>
              <a:ext uri="{FF2B5EF4-FFF2-40B4-BE49-F238E27FC236}">
                <a16:creationId xmlns:a16="http://schemas.microsoft.com/office/drawing/2014/main" id="{12980B00-5D24-ACF3-681A-D3EC037C3DB1}"/>
              </a:ext>
            </a:extLst>
          </p:cNvPr>
          <p:cNvSpPr>
            <a:spLocks noGrp="1"/>
          </p:cNvSpPr>
          <p:nvPr>
            <p:ph type="ftr" sz="quarter" idx="11"/>
          </p:nvPr>
        </p:nvSpPr>
        <p:spPr/>
        <p:txBody>
          <a:bodyPr/>
          <a:lstStyle/>
          <a:p>
            <a:r>
              <a:rPr lang="en-IN" sz="800">
                <a:latin typeface="Arial"/>
              </a:rPr>
              <a:t>SCA,DSU</a:t>
            </a:r>
          </a:p>
        </p:txBody>
      </p:sp>
      <p:sp>
        <p:nvSpPr>
          <p:cNvPr id="5" name="Slide Number Placeholder 4">
            <a:extLst>
              <a:ext uri="{FF2B5EF4-FFF2-40B4-BE49-F238E27FC236}">
                <a16:creationId xmlns:a16="http://schemas.microsoft.com/office/drawing/2014/main" id="{D902CE24-3474-3329-2742-C7AFBE276234}"/>
              </a:ext>
            </a:extLst>
          </p:cNvPr>
          <p:cNvSpPr>
            <a:spLocks noGrp="1"/>
          </p:cNvSpPr>
          <p:nvPr>
            <p:ph type="sldNum" sz="quarter" idx="12"/>
          </p:nvPr>
        </p:nvSpPr>
        <p:spPr/>
        <p:txBody>
          <a:bodyPr/>
          <a:lstStyle/>
          <a:p>
            <a:fld id="{928E01A7-08A5-4732-95A7-378050096F40}" type="slidenum">
              <a:rPr lang="en-IN" smtClean="0"/>
              <a:t>7</a:t>
            </a:fld>
            <a:endParaRPr lang="en-IN"/>
          </a:p>
        </p:txBody>
      </p:sp>
    </p:spTree>
    <p:extLst>
      <p:ext uri="{BB962C8B-B14F-4D97-AF65-F5344CB8AC3E}">
        <p14:creationId xmlns:p14="http://schemas.microsoft.com/office/powerpoint/2010/main" val="2165323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73B9167-4C1E-F871-D76D-B372CBE0F9B7}"/>
              </a:ext>
            </a:extLst>
          </p:cNvPr>
          <p:cNvSpPr/>
          <p:nvPr/>
        </p:nvSpPr>
        <p:spPr>
          <a:xfrm>
            <a:off x="518504" y="2388770"/>
            <a:ext cx="3237067" cy="3833275"/>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BF91DF55-26CA-C2C6-57F5-11F187D00AC3}"/>
              </a:ext>
            </a:extLst>
          </p:cNvPr>
          <p:cNvSpPr/>
          <p:nvPr/>
        </p:nvSpPr>
        <p:spPr>
          <a:xfrm>
            <a:off x="8107566" y="2388772"/>
            <a:ext cx="3953235" cy="3833274"/>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061ADCB-C459-B58D-309E-CB2700267586}"/>
              </a:ext>
            </a:extLst>
          </p:cNvPr>
          <p:cNvSpPr/>
          <p:nvPr/>
        </p:nvSpPr>
        <p:spPr>
          <a:xfrm>
            <a:off x="3891929" y="2388770"/>
            <a:ext cx="4068966" cy="3833275"/>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F7CE52A-82FB-FE63-5A72-CA0D98411CFD}"/>
              </a:ext>
            </a:extLst>
          </p:cNvPr>
          <p:cNvSpPr>
            <a:spLocks noGrp="1"/>
          </p:cNvSpPr>
          <p:nvPr>
            <p:ph type="title"/>
          </p:nvPr>
        </p:nvSpPr>
        <p:spPr>
          <a:xfrm>
            <a:off x="694394" y="1018135"/>
            <a:ext cx="10659406" cy="672553"/>
          </a:xfrm>
        </p:spPr>
        <p:txBody>
          <a:bodyPr>
            <a:normAutofit/>
          </a:bodyPr>
          <a:lstStyle/>
          <a:p>
            <a:r>
              <a:rPr sz="3600" dirty="0">
                <a:latin typeface="Arial"/>
              </a:rPr>
              <a:t>Proposed Methodology / Model</a:t>
            </a:r>
          </a:p>
        </p:txBody>
      </p:sp>
      <p:sp>
        <p:nvSpPr>
          <p:cNvPr id="3" name="Content Placeholder 2">
            <a:extLst>
              <a:ext uri="{FF2B5EF4-FFF2-40B4-BE49-F238E27FC236}">
                <a16:creationId xmlns:a16="http://schemas.microsoft.com/office/drawing/2014/main" id="{ADAC4F2E-1603-FB6F-DB56-61BC09E37435}"/>
              </a:ext>
            </a:extLst>
          </p:cNvPr>
          <p:cNvSpPr>
            <a:spLocks noGrp="1"/>
          </p:cNvSpPr>
          <p:nvPr>
            <p:ph idx="1"/>
          </p:nvPr>
        </p:nvSpPr>
        <p:spPr>
          <a:xfrm>
            <a:off x="838200" y="1825626"/>
            <a:ext cx="10966498" cy="365126"/>
          </a:xfrm>
        </p:spPr>
        <p:txBody>
          <a:bodyPr>
            <a:normAutofit/>
          </a:bodyPr>
          <a:lstStyle/>
          <a:p>
            <a:pPr marL="0" indent="0">
              <a:buNone/>
            </a:pPr>
            <a:r>
              <a:rPr sz="1400" dirty="0">
                <a:latin typeface="Arial"/>
              </a:rPr>
              <a:t>The proposed system uses a three-layer AI/ML-based matching approach:</a:t>
            </a:r>
          </a:p>
        </p:txBody>
      </p:sp>
      <p:sp>
        <p:nvSpPr>
          <p:cNvPr id="4" name="Footer Placeholder 3">
            <a:extLst>
              <a:ext uri="{FF2B5EF4-FFF2-40B4-BE49-F238E27FC236}">
                <a16:creationId xmlns:a16="http://schemas.microsoft.com/office/drawing/2014/main" id="{333DA308-871C-448F-99A3-8D176ED974BC}"/>
              </a:ext>
            </a:extLst>
          </p:cNvPr>
          <p:cNvSpPr>
            <a:spLocks noGrp="1"/>
          </p:cNvSpPr>
          <p:nvPr>
            <p:ph type="ftr" sz="quarter" idx="11"/>
          </p:nvPr>
        </p:nvSpPr>
        <p:spPr/>
        <p:txBody>
          <a:bodyPr/>
          <a:lstStyle/>
          <a:p>
            <a:r>
              <a:rPr lang="en-IN" sz="800">
                <a:latin typeface="Arial"/>
              </a:rPr>
              <a:t>SCA,DSU</a:t>
            </a:r>
          </a:p>
        </p:txBody>
      </p:sp>
      <p:sp>
        <p:nvSpPr>
          <p:cNvPr id="5" name="Slide Number Placeholder 4">
            <a:extLst>
              <a:ext uri="{FF2B5EF4-FFF2-40B4-BE49-F238E27FC236}">
                <a16:creationId xmlns:a16="http://schemas.microsoft.com/office/drawing/2014/main" id="{57255BFD-5089-2ADB-4708-1FB44ECA9CB1}"/>
              </a:ext>
            </a:extLst>
          </p:cNvPr>
          <p:cNvSpPr>
            <a:spLocks noGrp="1"/>
          </p:cNvSpPr>
          <p:nvPr>
            <p:ph type="sldNum" sz="quarter" idx="12"/>
          </p:nvPr>
        </p:nvSpPr>
        <p:spPr/>
        <p:txBody>
          <a:bodyPr/>
          <a:lstStyle/>
          <a:p>
            <a:fld id="{928E01A7-08A5-4732-95A7-378050096F40}" type="slidenum">
              <a:rPr lang="en-IN" smtClean="0"/>
              <a:t>8</a:t>
            </a:fld>
            <a:endParaRPr lang="en-IN"/>
          </a:p>
        </p:txBody>
      </p:sp>
      <p:sp>
        <p:nvSpPr>
          <p:cNvPr id="7" name="TextBox 6">
            <a:extLst>
              <a:ext uri="{FF2B5EF4-FFF2-40B4-BE49-F238E27FC236}">
                <a16:creationId xmlns:a16="http://schemas.microsoft.com/office/drawing/2014/main" id="{FAD04129-1F6F-C2D9-899C-B52EDA9FA89E}"/>
              </a:ext>
            </a:extLst>
          </p:cNvPr>
          <p:cNvSpPr txBox="1"/>
          <p:nvPr/>
        </p:nvSpPr>
        <p:spPr>
          <a:xfrm>
            <a:off x="592985" y="2633115"/>
            <a:ext cx="3152273" cy="3005951"/>
          </a:xfrm>
          <a:prstGeom prst="rect">
            <a:avLst/>
          </a:prstGeom>
          <a:noFill/>
        </p:spPr>
        <p:txBody>
          <a:bodyPr wrap="square">
            <a:spAutoFit/>
          </a:bodyPr>
          <a:lstStyle/>
          <a:p>
            <a:pPr marL="0" indent="0">
              <a:spcAft>
                <a:spcPts val="600"/>
              </a:spcAft>
              <a:buNone/>
              <a:defRPr sz="1050">
                <a:latin typeface="Arial"/>
              </a:defRPr>
            </a:pPr>
            <a:r>
              <a:rPr sz="1600" b="1" dirty="0"/>
              <a:t>Layer 1: Verification &amp; Trip Data Capture</a:t>
            </a:r>
            <a:endParaRPr lang="en-US" sz="1600" b="1" dirty="0"/>
          </a:p>
          <a:p>
            <a:pPr marL="0" indent="0">
              <a:spcAft>
                <a:spcPts val="600"/>
              </a:spcAft>
              <a:buNone/>
              <a:defRPr sz="1050">
                <a:latin typeface="Arial"/>
              </a:defRPr>
            </a:pPr>
            <a:endParaRPr sz="1600" b="1" dirty="0"/>
          </a:p>
          <a:p>
            <a:pPr marL="285750" indent="-285750">
              <a:spcAft>
                <a:spcPts val="200"/>
              </a:spcAft>
              <a:buFont typeface="Arial" panose="020B0604020202020204" pitchFamily="34" charset="0"/>
              <a:buChar char="•"/>
              <a:defRPr sz="1050">
                <a:latin typeface="Arial"/>
              </a:defRPr>
            </a:pPr>
            <a:r>
              <a:rPr sz="1600" dirty="0"/>
              <a:t>Student registers using college email/ID.</a:t>
            </a:r>
          </a:p>
          <a:p>
            <a:pPr marL="285750" indent="-285750">
              <a:spcAft>
                <a:spcPts val="200"/>
              </a:spcAft>
              <a:buFont typeface="Arial" panose="020B0604020202020204" pitchFamily="34" charset="0"/>
              <a:buChar char="•"/>
              <a:defRPr sz="1050">
                <a:latin typeface="Arial"/>
              </a:defRPr>
            </a:pPr>
            <a:r>
              <a:rPr sz="1600" dirty="0"/>
              <a:t>Profile stores home/start location and transport preference.</a:t>
            </a:r>
          </a:p>
          <a:p>
            <a:pPr marL="285750" indent="-285750">
              <a:spcAft>
                <a:spcPts val="200"/>
              </a:spcAft>
              <a:buFont typeface="Arial" panose="020B0604020202020204" pitchFamily="34" charset="0"/>
              <a:buChar char="•"/>
              <a:defRPr sz="1050">
                <a:latin typeface="Arial"/>
              </a:defRPr>
            </a:pPr>
            <a:r>
              <a:rPr sz="1600" dirty="0"/>
              <a:t>Student creates trip with source, destination, date, time and mode.</a:t>
            </a:r>
          </a:p>
        </p:txBody>
      </p:sp>
      <p:sp>
        <p:nvSpPr>
          <p:cNvPr id="9" name="TextBox 8">
            <a:extLst>
              <a:ext uri="{FF2B5EF4-FFF2-40B4-BE49-F238E27FC236}">
                <a16:creationId xmlns:a16="http://schemas.microsoft.com/office/drawing/2014/main" id="{680A1F50-BB0B-62AC-7BCD-7653407E9260}"/>
              </a:ext>
            </a:extLst>
          </p:cNvPr>
          <p:cNvSpPr txBox="1"/>
          <p:nvPr/>
        </p:nvSpPr>
        <p:spPr>
          <a:xfrm>
            <a:off x="3925732" y="2633115"/>
            <a:ext cx="3960109" cy="2267287"/>
          </a:xfrm>
          <a:prstGeom prst="rect">
            <a:avLst/>
          </a:prstGeom>
          <a:noFill/>
        </p:spPr>
        <p:txBody>
          <a:bodyPr wrap="square">
            <a:spAutoFit/>
          </a:bodyPr>
          <a:lstStyle/>
          <a:p>
            <a:pPr>
              <a:spcAft>
                <a:spcPts val="600"/>
              </a:spcAft>
              <a:defRPr sz="1050">
                <a:latin typeface="Arial"/>
              </a:defRPr>
            </a:pPr>
            <a:r>
              <a:rPr sz="1600" b="1" dirty="0"/>
              <a:t>Layer 2: Feature Extraction &amp; Scoring</a:t>
            </a:r>
            <a:endParaRPr lang="en-US" sz="1600" b="1" dirty="0"/>
          </a:p>
          <a:p>
            <a:pPr>
              <a:spcAft>
                <a:spcPts val="600"/>
              </a:spcAft>
              <a:defRPr sz="1050">
                <a:latin typeface="Arial"/>
              </a:defRPr>
            </a:pPr>
            <a:endParaRPr sz="1600" b="1" dirty="0"/>
          </a:p>
          <a:p>
            <a:pPr marL="285750" indent="-285750">
              <a:spcAft>
                <a:spcPts val="200"/>
              </a:spcAft>
              <a:buFont typeface="Arial" panose="020B0604020202020204" pitchFamily="34" charset="0"/>
              <a:buChar char="•"/>
              <a:defRPr sz="1050">
                <a:latin typeface="Arial"/>
              </a:defRPr>
            </a:pPr>
            <a:r>
              <a:rPr sz="1600" dirty="0"/>
              <a:t>System compares routes, destination, departure time and transport mode.</a:t>
            </a:r>
          </a:p>
          <a:p>
            <a:pPr marL="285750" indent="-285750">
              <a:spcAft>
                <a:spcPts val="200"/>
              </a:spcAft>
              <a:buFont typeface="Arial" panose="020B0604020202020204" pitchFamily="34" charset="0"/>
              <a:buChar char="•"/>
              <a:defRPr sz="1050">
                <a:latin typeface="Arial"/>
              </a:defRPr>
            </a:pPr>
            <a:r>
              <a:rPr sz="1600" dirty="0"/>
              <a:t>Mapping API estimates distance, detour and possible cost savings.</a:t>
            </a:r>
          </a:p>
          <a:p>
            <a:pPr marL="285750" indent="-285750">
              <a:spcAft>
                <a:spcPts val="200"/>
              </a:spcAft>
              <a:buFont typeface="Arial" panose="020B0604020202020204" pitchFamily="34" charset="0"/>
              <a:buChar char="•"/>
              <a:defRPr sz="1050">
                <a:latin typeface="Arial"/>
              </a:defRPr>
            </a:pPr>
            <a:r>
              <a:rPr sz="1600" dirty="0"/>
              <a:t>Weighted score calculates compatibility for every potential match.</a:t>
            </a:r>
          </a:p>
        </p:txBody>
      </p:sp>
      <p:sp>
        <p:nvSpPr>
          <p:cNvPr id="11" name="TextBox 10">
            <a:extLst>
              <a:ext uri="{FF2B5EF4-FFF2-40B4-BE49-F238E27FC236}">
                <a16:creationId xmlns:a16="http://schemas.microsoft.com/office/drawing/2014/main" id="{3E6892B7-9B4A-0891-3F42-5DECC4B1121D}"/>
              </a:ext>
            </a:extLst>
          </p:cNvPr>
          <p:cNvSpPr txBox="1"/>
          <p:nvPr/>
        </p:nvSpPr>
        <p:spPr>
          <a:xfrm>
            <a:off x="8153400" y="2633115"/>
            <a:ext cx="3855262" cy="2513509"/>
          </a:xfrm>
          <a:prstGeom prst="rect">
            <a:avLst/>
          </a:prstGeom>
          <a:noFill/>
        </p:spPr>
        <p:txBody>
          <a:bodyPr wrap="square">
            <a:spAutoFit/>
          </a:bodyPr>
          <a:lstStyle/>
          <a:p>
            <a:pPr>
              <a:spcAft>
                <a:spcPts val="600"/>
              </a:spcAft>
              <a:buNone/>
              <a:defRPr sz="1050">
                <a:latin typeface="Arial"/>
              </a:defRPr>
            </a:pPr>
            <a:r>
              <a:rPr sz="1600" b="1" dirty="0"/>
              <a:t>Layer 3: AI/ML Ranking &amp; Recommendation</a:t>
            </a:r>
            <a:endParaRPr lang="en-US" sz="1600" b="1" dirty="0"/>
          </a:p>
          <a:p>
            <a:pPr>
              <a:spcAft>
                <a:spcPts val="600"/>
              </a:spcAft>
              <a:buNone/>
              <a:defRPr sz="1050">
                <a:latin typeface="Arial"/>
              </a:defRPr>
            </a:pPr>
            <a:endParaRPr sz="1600" b="1" dirty="0"/>
          </a:p>
          <a:p>
            <a:pPr marL="285750" indent="-285750">
              <a:spcAft>
                <a:spcPts val="200"/>
              </a:spcAft>
              <a:buFont typeface="Arial" panose="020B0604020202020204" pitchFamily="34" charset="0"/>
              <a:buChar char="•"/>
              <a:defRPr sz="1050">
                <a:latin typeface="Arial"/>
              </a:defRPr>
            </a:pPr>
            <a:r>
              <a:rPr sz="1600" dirty="0"/>
              <a:t>Python + Scikit-learn ranks the most suitable matches.</a:t>
            </a:r>
          </a:p>
          <a:p>
            <a:pPr marL="285750" indent="-285750">
              <a:spcAft>
                <a:spcPts val="200"/>
              </a:spcAft>
              <a:buFont typeface="Arial" panose="020B0604020202020204" pitchFamily="34" charset="0"/>
              <a:buChar char="•"/>
              <a:defRPr sz="1050">
                <a:latin typeface="Arial"/>
              </a:defRPr>
            </a:pPr>
            <a:r>
              <a:rPr sz="1600" dirty="0"/>
              <a:t>Initial version uses weighted recommendation logic.</a:t>
            </a:r>
          </a:p>
          <a:p>
            <a:pPr marL="285750" indent="-285750">
              <a:spcAft>
                <a:spcPts val="200"/>
              </a:spcAft>
              <a:buFont typeface="Arial" panose="020B0604020202020204" pitchFamily="34" charset="0"/>
              <a:buChar char="•"/>
              <a:defRPr sz="1050">
                <a:latin typeface="Arial"/>
              </a:defRPr>
            </a:pPr>
            <a:r>
              <a:rPr sz="1600" dirty="0"/>
              <a:t>Future version can use KNN, Logistic Regression or Decision Tree ranking.</a:t>
            </a:r>
          </a:p>
        </p:txBody>
      </p:sp>
    </p:spTree>
    <p:extLst>
      <p:ext uri="{BB962C8B-B14F-4D97-AF65-F5344CB8AC3E}">
        <p14:creationId xmlns:p14="http://schemas.microsoft.com/office/powerpoint/2010/main" val="2652046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95814-4858-4612-D48A-4FA9E26BCD5D}"/>
              </a:ext>
            </a:extLst>
          </p:cNvPr>
          <p:cNvSpPr>
            <a:spLocks noGrp="1"/>
          </p:cNvSpPr>
          <p:nvPr>
            <p:ph type="title"/>
          </p:nvPr>
        </p:nvSpPr>
        <p:spPr/>
        <p:txBody>
          <a:bodyPr>
            <a:normAutofit fontScale="90000"/>
          </a:bodyPr>
          <a:lstStyle/>
          <a:p>
            <a:r>
              <a:rPr sz="2800">
                <a:latin typeface="Arial"/>
              </a:rPr>
              <a:t>Architectural Design</a:t>
            </a:r>
          </a:p>
        </p:txBody>
      </p:sp>
      <p:sp>
        <p:nvSpPr>
          <p:cNvPr id="4" name="Footer Placeholder 3">
            <a:extLst>
              <a:ext uri="{FF2B5EF4-FFF2-40B4-BE49-F238E27FC236}">
                <a16:creationId xmlns:a16="http://schemas.microsoft.com/office/drawing/2014/main" id="{4138BBBB-C4DC-A7FA-2929-BF67E70F446E}"/>
              </a:ext>
            </a:extLst>
          </p:cNvPr>
          <p:cNvSpPr>
            <a:spLocks noGrp="1"/>
          </p:cNvSpPr>
          <p:nvPr>
            <p:ph type="ftr" sz="quarter" idx="11"/>
          </p:nvPr>
        </p:nvSpPr>
        <p:spPr/>
        <p:txBody>
          <a:bodyPr/>
          <a:lstStyle/>
          <a:p>
            <a:r>
              <a:rPr lang="en-IN" sz="800">
                <a:latin typeface="Arial"/>
              </a:rPr>
              <a:t>SCA,DSU</a:t>
            </a:r>
          </a:p>
        </p:txBody>
      </p:sp>
      <p:sp>
        <p:nvSpPr>
          <p:cNvPr id="5" name="Slide Number Placeholder 4">
            <a:extLst>
              <a:ext uri="{FF2B5EF4-FFF2-40B4-BE49-F238E27FC236}">
                <a16:creationId xmlns:a16="http://schemas.microsoft.com/office/drawing/2014/main" id="{E6A06E33-D886-73BE-91C9-3EC2CE79F7D3}"/>
              </a:ext>
            </a:extLst>
          </p:cNvPr>
          <p:cNvSpPr>
            <a:spLocks noGrp="1"/>
          </p:cNvSpPr>
          <p:nvPr>
            <p:ph type="sldNum" sz="quarter" idx="12"/>
          </p:nvPr>
        </p:nvSpPr>
        <p:spPr/>
        <p:txBody>
          <a:bodyPr/>
          <a:lstStyle/>
          <a:p>
            <a:fld id="{928E01A7-08A5-4732-95A7-378050096F40}" type="slidenum">
              <a:rPr lang="en-IN" smtClean="0"/>
              <a:t>9</a:t>
            </a:fld>
            <a:endParaRPr lang="en-IN"/>
          </a:p>
        </p:txBody>
      </p:sp>
      <p:pic>
        <p:nvPicPr>
          <p:cNvPr id="10" name="Picture 9" descr="architecture_mermaid.png"/>
          <p:cNvPicPr>
            <a:picLocks noChangeAspect="1"/>
          </p:cNvPicPr>
          <p:nvPr/>
        </p:nvPicPr>
        <p:blipFill>
          <a:blip r:embed="rId2"/>
          <a:stretch>
            <a:fillRect/>
          </a:stretch>
        </p:blipFill>
        <p:spPr>
          <a:xfrm>
            <a:off x="960051" y="1018135"/>
            <a:ext cx="10149840" cy="5104140"/>
          </a:xfrm>
          <a:prstGeom prst="rect">
            <a:avLst/>
          </a:prstGeom>
        </p:spPr>
      </p:pic>
    </p:spTree>
    <p:extLst>
      <p:ext uri="{BB962C8B-B14F-4D97-AF65-F5344CB8AC3E}">
        <p14:creationId xmlns:p14="http://schemas.microsoft.com/office/powerpoint/2010/main" val="956506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3F7D211-42CA-A7FD-D7F0-30EBD588D48C}"/>
              </a:ext>
            </a:extLst>
          </p:cNvPr>
          <p:cNvSpPr/>
          <p:nvPr/>
        </p:nvSpPr>
        <p:spPr>
          <a:xfrm>
            <a:off x="6840813" y="873149"/>
            <a:ext cx="3765312" cy="5617028"/>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A3D3859-938C-69E6-AC74-A24EEDC43B31}"/>
              </a:ext>
            </a:extLst>
          </p:cNvPr>
          <p:cNvSpPr/>
          <p:nvPr/>
        </p:nvSpPr>
        <p:spPr>
          <a:xfrm>
            <a:off x="928150" y="1718188"/>
            <a:ext cx="5655988" cy="3946967"/>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316305B-C6CE-32E3-BBB9-F4CD95E79A10}"/>
              </a:ext>
            </a:extLst>
          </p:cNvPr>
          <p:cNvSpPr>
            <a:spLocks noGrp="1"/>
          </p:cNvSpPr>
          <p:nvPr>
            <p:ph type="title"/>
          </p:nvPr>
        </p:nvSpPr>
        <p:spPr>
          <a:xfrm>
            <a:off x="838200" y="1018135"/>
            <a:ext cx="3919430" cy="672553"/>
          </a:xfrm>
        </p:spPr>
        <p:txBody>
          <a:bodyPr>
            <a:normAutofit fontScale="90000"/>
          </a:bodyPr>
          <a:lstStyle/>
          <a:p>
            <a:r>
              <a:rPr sz="2800">
                <a:latin typeface="Arial"/>
              </a:rPr>
              <a:t>DFD / Flowchart</a:t>
            </a:r>
          </a:p>
        </p:txBody>
      </p:sp>
      <p:sp>
        <p:nvSpPr>
          <p:cNvPr id="3" name="Content Placeholder 2">
            <a:extLst>
              <a:ext uri="{FF2B5EF4-FFF2-40B4-BE49-F238E27FC236}">
                <a16:creationId xmlns:a16="http://schemas.microsoft.com/office/drawing/2014/main" id="{E6B22F84-10B7-25F5-5946-08184DF077D3}"/>
              </a:ext>
            </a:extLst>
          </p:cNvPr>
          <p:cNvSpPr>
            <a:spLocks noGrp="1"/>
          </p:cNvSpPr>
          <p:nvPr>
            <p:ph idx="1"/>
          </p:nvPr>
        </p:nvSpPr>
        <p:spPr>
          <a:xfrm>
            <a:off x="1057055" y="1837316"/>
            <a:ext cx="4943833" cy="365125"/>
          </a:xfrm>
        </p:spPr>
        <p:txBody>
          <a:bodyPr>
            <a:normAutofit/>
          </a:bodyPr>
          <a:lstStyle/>
          <a:p>
            <a:r>
              <a:rPr sz="1200">
                <a:latin typeface="Arial"/>
              </a:rPr>
              <a:t>DFD Level 0</a:t>
            </a:r>
          </a:p>
        </p:txBody>
      </p:sp>
      <p:sp>
        <p:nvSpPr>
          <p:cNvPr id="4" name="Footer Placeholder 3">
            <a:extLst>
              <a:ext uri="{FF2B5EF4-FFF2-40B4-BE49-F238E27FC236}">
                <a16:creationId xmlns:a16="http://schemas.microsoft.com/office/drawing/2014/main" id="{E48A0435-AF39-1005-8A91-9994D689ED64}"/>
              </a:ext>
            </a:extLst>
          </p:cNvPr>
          <p:cNvSpPr>
            <a:spLocks noGrp="1"/>
          </p:cNvSpPr>
          <p:nvPr>
            <p:ph type="ftr" sz="quarter" idx="11"/>
          </p:nvPr>
        </p:nvSpPr>
        <p:spPr/>
        <p:txBody>
          <a:bodyPr/>
          <a:lstStyle/>
          <a:p>
            <a:r>
              <a:rPr lang="en-IN" sz="800">
                <a:latin typeface="Arial"/>
              </a:rPr>
              <a:t>SCA,DSU</a:t>
            </a:r>
          </a:p>
        </p:txBody>
      </p:sp>
      <p:sp>
        <p:nvSpPr>
          <p:cNvPr id="5" name="Slide Number Placeholder 4">
            <a:extLst>
              <a:ext uri="{FF2B5EF4-FFF2-40B4-BE49-F238E27FC236}">
                <a16:creationId xmlns:a16="http://schemas.microsoft.com/office/drawing/2014/main" id="{56EAB547-049E-FFF1-7389-174FC7A639F4}"/>
              </a:ext>
            </a:extLst>
          </p:cNvPr>
          <p:cNvSpPr>
            <a:spLocks noGrp="1"/>
          </p:cNvSpPr>
          <p:nvPr>
            <p:ph type="sldNum" sz="quarter" idx="12"/>
          </p:nvPr>
        </p:nvSpPr>
        <p:spPr/>
        <p:txBody>
          <a:bodyPr/>
          <a:lstStyle/>
          <a:p>
            <a:fld id="{928E01A7-08A5-4732-95A7-378050096F40}" type="slidenum">
              <a:rPr lang="en-IN" smtClean="0"/>
              <a:t>10</a:t>
            </a:fld>
            <a:endParaRPr lang="en-IN"/>
          </a:p>
        </p:txBody>
      </p:sp>
      <p:sp>
        <p:nvSpPr>
          <p:cNvPr id="16" name="TextBox 15">
            <a:extLst>
              <a:ext uri="{FF2B5EF4-FFF2-40B4-BE49-F238E27FC236}">
                <a16:creationId xmlns:a16="http://schemas.microsoft.com/office/drawing/2014/main" id="{8F9100E7-627F-8422-B757-9370C8619A17}"/>
              </a:ext>
            </a:extLst>
          </p:cNvPr>
          <p:cNvSpPr txBox="1"/>
          <p:nvPr/>
        </p:nvSpPr>
        <p:spPr>
          <a:xfrm>
            <a:off x="6840813" y="883198"/>
            <a:ext cx="2468192" cy="369332"/>
          </a:xfrm>
          <a:prstGeom prst="rect">
            <a:avLst/>
          </a:prstGeom>
          <a:noFill/>
        </p:spPr>
        <p:txBody>
          <a:bodyPr wrap="square">
            <a:spAutoFit/>
          </a:bodyPr>
          <a:lstStyle/>
          <a:p>
            <a:r>
              <a:rPr sz="1200">
                <a:latin typeface="Arial"/>
              </a:rPr>
              <a:t>Detailed Flowchart</a:t>
            </a:r>
          </a:p>
        </p:txBody>
      </p:sp>
      <p:pic>
        <p:nvPicPr>
          <p:cNvPr id="17" name="Picture 16" descr="dfd_mermaid.png"/>
          <p:cNvPicPr>
            <a:picLocks noChangeAspect="1"/>
          </p:cNvPicPr>
          <p:nvPr/>
        </p:nvPicPr>
        <p:blipFill>
          <a:blip r:embed="rId2"/>
          <a:stretch>
            <a:fillRect/>
          </a:stretch>
        </p:blipFill>
        <p:spPr>
          <a:xfrm>
            <a:off x="1024128" y="2202441"/>
            <a:ext cx="5479272" cy="3338961"/>
          </a:xfrm>
          <a:prstGeom prst="rect">
            <a:avLst/>
          </a:prstGeom>
        </p:spPr>
      </p:pic>
      <p:pic>
        <p:nvPicPr>
          <p:cNvPr id="18" name="Picture 17" descr="detailed_flow_mermaid.png"/>
          <p:cNvPicPr>
            <a:picLocks noChangeAspect="1"/>
          </p:cNvPicPr>
          <p:nvPr/>
        </p:nvPicPr>
        <p:blipFill>
          <a:blip r:embed="rId3"/>
          <a:stretch>
            <a:fillRect/>
          </a:stretch>
        </p:blipFill>
        <p:spPr>
          <a:xfrm>
            <a:off x="7205471" y="1196283"/>
            <a:ext cx="3148561" cy="5208499"/>
          </a:xfrm>
          <a:prstGeom prst="rect">
            <a:avLst/>
          </a:prstGeom>
        </p:spPr>
      </p:pic>
    </p:spTree>
    <p:extLst>
      <p:ext uri="{BB962C8B-B14F-4D97-AF65-F5344CB8AC3E}">
        <p14:creationId xmlns:p14="http://schemas.microsoft.com/office/powerpoint/2010/main" val="2706873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830</Words>
  <Application>Microsoft Office PowerPoint</Application>
  <PresentationFormat>Widescreen</PresentationFormat>
  <Paragraphs>129</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YAANA</vt:lpstr>
      <vt:lpstr>Index </vt:lpstr>
      <vt:lpstr>Introduction</vt:lpstr>
      <vt:lpstr>Technologies / Tools / Framework / Dataset Used</vt:lpstr>
      <vt:lpstr>Problem Statement</vt:lpstr>
      <vt:lpstr>Objectives</vt:lpstr>
      <vt:lpstr>Literature Survey</vt:lpstr>
      <vt:lpstr>Proposed Methodology / Model</vt:lpstr>
      <vt:lpstr>Architectural Design</vt:lpstr>
      <vt:lpstr>DFD / Flowchart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padmageetha B G</dc:creator>
  <cp:lastModifiedBy>Alok Das</cp:lastModifiedBy>
  <cp:revision>11</cp:revision>
  <dcterms:created xsi:type="dcterms:W3CDTF">2026-03-13T06:04:21Z</dcterms:created>
  <dcterms:modified xsi:type="dcterms:W3CDTF">2026-09-12T15:43:21Z</dcterms:modified>
</cp:coreProperties>
</file>